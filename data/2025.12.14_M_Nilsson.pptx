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DD4BF3-BF8C-3122-5FD9-D7CA269F8B8B}" v="85" dt="2025-12-14T01:43:14.0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43"/>
    <p:restoredTop sz="94718"/>
  </p:normalViewPr>
  <p:slideViewPr>
    <p:cSldViewPr snapToGrid="0">
      <p:cViewPr varScale="1">
        <p:scale>
          <a:sx n="120" d="100"/>
          <a:sy n="120" d="100"/>
        </p:scale>
        <p:origin x="5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6" d="100"/>
        <a:sy n="126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55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B82CC1C-2EFA-41CD-8EE1-D64C4317C9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F3A9A9-5F67-4774-9AE0-18456713EA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A956093-EDCF-4DD8-9AE7-E9C61FFE6CA3}" type="datetime1">
              <a:rPr lang="en-GB" smtClean="0"/>
              <a:t>13/12/2025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22A631-0269-4E45-A3DF-4FA7D06E90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69B2A7-A232-444D-B3CD-C3D1E5A8E2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0F9F022-6C35-409F-B2A6-FFC7C9918F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04997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8B472-568D-400E-87C6-085D0E89D1DB}" type="datetime1">
              <a:rPr lang="en-GB" noProof="0" smtClean="0"/>
              <a:pPr/>
              <a:t>13/12/2025</a:t>
            </a:fld>
            <a:endParaRPr lang="en-GB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97DC217-DF71-1A49-B3EA-559F1F43B0FF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97DC217-DF71-1A49-B3EA-559F1F43B0F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650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9500507" cy="806675"/>
          </a:xfrm>
        </p:spPr>
        <p:txBody>
          <a:bodyPr rtlCol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02465C8-266D-104C-9C49-323DF4A8277E}"/>
              </a:ext>
            </a:extLst>
          </p:cNvPr>
          <p:cNvSpPr/>
          <p:nvPr userDrawn="1"/>
        </p:nvSpPr>
        <p:spPr>
          <a:xfrm>
            <a:off x="583746" y="4960030"/>
            <a:ext cx="1551214" cy="155121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7979A1C-BF60-B345-A664-2E4F7A3461EB}"/>
              </a:ext>
            </a:extLst>
          </p:cNvPr>
          <p:cNvSpPr/>
          <p:nvPr userDrawn="1"/>
        </p:nvSpPr>
        <p:spPr>
          <a:xfrm>
            <a:off x="1" y="4571999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8080B3E-915C-2D4C-8608-596E1BFD6387}"/>
              </a:ext>
            </a:extLst>
          </p:cNvPr>
          <p:cNvSpPr/>
          <p:nvPr userDrawn="1"/>
        </p:nvSpPr>
        <p:spPr>
          <a:xfrm>
            <a:off x="1" y="5739492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-3419"/>
            <a:ext cx="3927573" cy="3165022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9E240E8A-950E-7946-826C-415CB5DACA43}"/>
              </a:ext>
            </a:extLst>
          </p:cNvPr>
          <p:cNvSpPr/>
          <p:nvPr userDrawn="1"/>
        </p:nvSpPr>
        <p:spPr>
          <a:xfrm>
            <a:off x="11024507" y="4580708"/>
            <a:ext cx="1167493" cy="2277292"/>
          </a:xfrm>
          <a:custGeom>
            <a:avLst/>
            <a:gdLst>
              <a:gd name="connsiteX0" fmla="*/ 1167473 w 1167493"/>
              <a:gd name="connsiteY0" fmla="*/ 0 h 2272167"/>
              <a:gd name="connsiteX1" fmla="*/ 1167493 w 1167493"/>
              <a:gd name="connsiteY1" fmla="*/ 0 h 2272167"/>
              <a:gd name="connsiteX2" fmla="*/ 1167493 w 1167493"/>
              <a:gd name="connsiteY2" fmla="*/ 492960 h 2272167"/>
              <a:gd name="connsiteX3" fmla="*/ 1167493 w 1167493"/>
              <a:gd name="connsiteY3" fmla="*/ 720385 h 2272167"/>
              <a:gd name="connsiteX4" fmla="*/ 1167493 w 1167493"/>
              <a:gd name="connsiteY4" fmla="*/ 2272167 h 2272167"/>
              <a:gd name="connsiteX5" fmla="*/ 0 w 1167493"/>
              <a:gd name="connsiteY5" fmla="*/ 2272167 h 2272167"/>
              <a:gd name="connsiteX6" fmla="*/ 0 w 1167493"/>
              <a:gd name="connsiteY6" fmla="*/ 1898074 h 2272167"/>
              <a:gd name="connsiteX7" fmla="*/ 0 w 1167493"/>
              <a:gd name="connsiteY7" fmla="*/ 1271597 h 2272167"/>
              <a:gd name="connsiteX8" fmla="*/ 0 w 1167493"/>
              <a:gd name="connsiteY8" fmla="*/ 1177688 h 2272167"/>
              <a:gd name="connsiteX9" fmla="*/ 1048124 w 1167493"/>
              <a:gd name="connsiteY9" fmla="*/ 6080 h 2272167"/>
              <a:gd name="connsiteX10" fmla="*/ 1167473 w 1167493"/>
              <a:gd name="connsiteY10" fmla="*/ 0 h 2272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7493" h="2272167">
                <a:moveTo>
                  <a:pt x="1167473" y="0"/>
                </a:moveTo>
                <a:lnTo>
                  <a:pt x="1167493" y="0"/>
                </a:lnTo>
                <a:lnTo>
                  <a:pt x="1167493" y="492960"/>
                </a:lnTo>
                <a:lnTo>
                  <a:pt x="1167493" y="720385"/>
                </a:lnTo>
                <a:lnTo>
                  <a:pt x="1167493" y="2272167"/>
                </a:lnTo>
                <a:lnTo>
                  <a:pt x="0" y="2272167"/>
                </a:lnTo>
                <a:lnTo>
                  <a:pt x="0" y="1898074"/>
                </a:lnTo>
                <a:lnTo>
                  <a:pt x="0" y="1271597"/>
                </a:lnTo>
                <a:lnTo>
                  <a:pt x="0" y="1177688"/>
                </a:lnTo>
                <a:cubicBezTo>
                  <a:pt x="0" y="567919"/>
                  <a:pt x="459408" y="66389"/>
                  <a:pt x="1048124" y="6080"/>
                </a:cubicBezTo>
                <a:lnTo>
                  <a:pt x="116747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EA09586C-5A81-443E-A8F0-7DBA8A56A402}" type="datetime1">
              <a:rPr lang="en-GB" noProof="0" smtClean="0"/>
              <a:t>13/12/2025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62587F-7496-384A-AF40-18FC8CF0709D}"/>
              </a:ext>
            </a:extLst>
          </p:cNvPr>
          <p:cNvSpPr/>
          <p:nvPr userDrawn="1"/>
        </p:nvSpPr>
        <p:spPr>
          <a:xfrm>
            <a:off x="0" y="2286002"/>
            <a:ext cx="1220882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4DB028B-A475-224B-B675-A15A56CAD0BF}"/>
              </a:ext>
            </a:extLst>
          </p:cNvPr>
          <p:cNvSpPr/>
          <p:nvPr userDrawn="1"/>
        </p:nvSpPr>
        <p:spPr>
          <a:xfrm flipH="1">
            <a:off x="8597718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61C34955-105B-4D4D-B51D-754C5D38A85D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734DEB1-EC02-2E42-9292-4ADD115060A5}"/>
              </a:ext>
            </a:extLst>
          </p:cNvPr>
          <p:cNvSpPr/>
          <p:nvPr userDrawn="1"/>
        </p:nvSpPr>
        <p:spPr>
          <a:xfrm rot="5400000" flipH="1" flipV="1">
            <a:off x="10344100" y="438098"/>
            <a:ext cx="2285999" cy="1409801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7492" y="2653167"/>
            <a:ext cx="9779183" cy="3436483"/>
          </a:xfrm>
        </p:spPr>
        <p:txBody>
          <a:bodyPr rtlCol="0">
            <a:noAutofit/>
          </a:bodyPr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640C98F9-CB0E-4FA9-9591-FB0CE9CF7143}" type="datetime1">
              <a:rPr lang="en-GB" noProof="0" smtClean="0"/>
              <a:t>13/12/2025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2">
            <a:extLst>
              <a:ext uri="{FF2B5EF4-FFF2-40B4-BE49-F238E27FC236}">
                <a16:creationId xmlns:a16="http://schemas.microsoft.com/office/drawing/2014/main" id="{067EACEC-C2DD-EA42-8504-176673AD1F20}"/>
              </a:ext>
            </a:extLst>
          </p:cNvPr>
          <p:cNvSpPr/>
          <p:nvPr userDrawn="1"/>
        </p:nvSpPr>
        <p:spPr>
          <a:xfrm>
            <a:off x="0" y="0"/>
            <a:ext cx="8025490" cy="6858000"/>
          </a:xfrm>
          <a:custGeom>
            <a:avLst/>
            <a:gdLst>
              <a:gd name="connsiteX0" fmla="*/ 0 w 8025490"/>
              <a:gd name="connsiteY0" fmla="*/ 0 h 6858000"/>
              <a:gd name="connsiteX1" fmla="*/ 4596490 w 8025490"/>
              <a:gd name="connsiteY1" fmla="*/ 0 h 6858000"/>
              <a:gd name="connsiteX2" fmla="*/ 8025490 w 8025490"/>
              <a:gd name="connsiteY2" fmla="*/ 3429000 h 6858000"/>
              <a:gd name="connsiteX3" fmla="*/ 4596490 w 8025490"/>
              <a:gd name="connsiteY3" fmla="*/ 6858000 h 6858000"/>
              <a:gd name="connsiteX4" fmla="*/ 0 w 802549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5490" h="6858000">
                <a:moveTo>
                  <a:pt x="0" y="0"/>
                </a:moveTo>
                <a:lnTo>
                  <a:pt x="4596490" y="0"/>
                </a:lnTo>
                <a:cubicBezTo>
                  <a:pt x="6490274" y="0"/>
                  <a:pt x="8025490" y="1535216"/>
                  <a:pt x="8025490" y="3429000"/>
                </a:cubicBezTo>
                <a:cubicBezTo>
                  <a:pt x="8025490" y="5322784"/>
                  <a:pt x="6490274" y="6858000"/>
                  <a:pt x="4596490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539075"/>
            <a:ext cx="6245912" cy="1406101"/>
          </a:xfrm>
        </p:spPr>
        <p:txBody>
          <a:bodyPr rtlCol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9843C7E-5704-7A46-8974-F3BFA42E7310}"/>
              </a:ext>
            </a:extLst>
          </p:cNvPr>
          <p:cNvGrpSpPr/>
          <p:nvPr userDrawn="1"/>
        </p:nvGrpSpPr>
        <p:grpSpPr>
          <a:xfrm rot="16200000">
            <a:off x="8286528" y="2207195"/>
            <a:ext cx="3032351" cy="2443610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0B179973-08D2-EF40-B516-35E75E906394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C811FF3-E48A-194D-8022-65F8C3A17449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DEF7267A-46F7-4D2F-B4E6-AE992D5484B8}" type="datetime1">
              <a:rPr lang="en-GB" noProof="0" smtClean="0"/>
              <a:t>13/12/2025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978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3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D016F812-AB39-4F48-B1E8-95605A3EF510}" type="datetime1">
              <a:rPr lang="en-GB" noProof="0" smtClean="0"/>
              <a:t>13/12/2025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721" y="1684338"/>
            <a:ext cx="8594558" cy="2810460"/>
          </a:xfrm>
        </p:spPr>
        <p:txBody>
          <a:bodyPr rtlCol="0">
            <a:noAutofit/>
          </a:bodyPr>
          <a:lstStyle>
            <a:lvl1pPr algn="ctr">
              <a:lnSpc>
                <a:spcPct val="100000"/>
              </a:lnSpc>
              <a:defRPr sz="46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91C146-F9A8-9A4C-9508-8590923B8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519405"/>
            <a:ext cx="1364297" cy="1094521"/>
          </a:xfrm>
        </p:spPr>
        <p:txBody>
          <a:bodyPr rtlCol="0"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en-GB" noProof="0"/>
              <a:t>“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2D6C2B-78AC-DD47-9289-067C968B06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81813" y="4494213"/>
            <a:ext cx="3511550" cy="679450"/>
          </a:xfrm>
        </p:spPr>
        <p:txBody>
          <a:bodyPr rtlCol="0">
            <a:no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r">
              <a:buNone/>
              <a:defRPr sz="1800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 algn="r">
              <a:buNone/>
              <a:defRPr sz="1600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12193CD-03AD-D74D-A5CD-747A9B53F4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09104" y="3399692"/>
            <a:ext cx="1364297" cy="1094521"/>
          </a:xfrm>
        </p:spPr>
        <p:txBody>
          <a:bodyPr rtlCol="0"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en-GB" noProof="0"/>
              <a:t>”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82570B71-EA3C-4900-991E-6BBB6BBDE064}" type="datetime1">
              <a:rPr lang="en-GB" noProof="0" smtClean="0"/>
              <a:t>13/12/2025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8C225EC-F6EF-1144-834A-F0B91974AA41}"/>
              </a:ext>
            </a:extLst>
          </p:cNvPr>
          <p:cNvSpPr/>
          <p:nvPr userDrawn="1"/>
        </p:nvSpPr>
        <p:spPr>
          <a:xfrm>
            <a:off x="0" y="-1664"/>
            <a:ext cx="9857012" cy="68596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E40CEAF-B1BB-174E-A798-3BA60D9C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8401624" cy="1325563"/>
          </a:xfrm>
        </p:spPr>
        <p:txBody>
          <a:bodyPr lIns="0"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227758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351" y="2426400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23350" y="2811646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95813" y="2227758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70817" y="242256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70816" y="280781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429" y="4254273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3351" y="4498793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23350" y="4884039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95813" y="4254273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0817" y="4498793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70816" y="4884039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1569803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DADE8980-1565-4B47-9723-42A8A150F178}" type="datetime1">
              <a:rPr lang="en-GB" noProof="0" smtClean="0"/>
              <a:t>13/12/2025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1106" y="6356350"/>
            <a:ext cx="4114800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2334" y="6356350"/>
            <a:ext cx="1167495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AAB3BC7E-B34F-EF47-B125-1574C5484E22}"/>
              </a:ext>
            </a:extLst>
          </p:cNvPr>
          <p:cNvSpPr/>
          <p:nvPr userDrawn="1"/>
        </p:nvSpPr>
        <p:spPr>
          <a:xfrm rot="16200000" flipV="1">
            <a:off x="9499940" y="355410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7CBC82D0-4F72-C649-8B7F-D4B087957B6C}"/>
              </a:ext>
            </a:extLst>
          </p:cNvPr>
          <p:cNvSpPr/>
          <p:nvPr userDrawn="1"/>
        </p:nvSpPr>
        <p:spPr>
          <a:xfrm flipH="1">
            <a:off x="10866436" y="1879977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9383F23A-D872-2A4C-B386-A9D269BE694D}"/>
              </a:ext>
            </a:extLst>
          </p:cNvPr>
          <p:cNvSpPr/>
          <p:nvPr userDrawn="1"/>
        </p:nvSpPr>
        <p:spPr>
          <a:xfrm>
            <a:off x="11024507" y="-1664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221FFDB-AAE2-5943-97A1-82D66AE05DB4}"/>
              </a:ext>
            </a:extLst>
          </p:cNvPr>
          <p:cNvSpPr/>
          <p:nvPr userDrawn="1"/>
        </p:nvSpPr>
        <p:spPr>
          <a:xfrm>
            <a:off x="10334091" y="2737752"/>
            <a:ext cx="1380830" cy="138083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2E58EEF7-63CA-A845-BAC4-9D3BE05918B5}"/>
              </a:ext>
            </a:extLst>
          </p:cNvPr>
          <p:cNvSpPr/>
          <p:nvPr userDrawn="1"/>
        </p:nvSpPr>
        <p:spPr>
          <a:xfrm rot="16200000" flipH="1">
            <a:off x="10667432" y="5333432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757A4624-D8ED-2E4B-AF8C-00DFA6A72D5F}"/>
              </a:ext>
            </a:extLst>
          </p:cNvPr>
          <p:cNvSpPr/>
          <p:nvPr userDrawn="1"/>
        </p:nvSpPr>
        <p:spPr>
          <a:xfrm flipV="1">
            <a:off x="9857012" y="3651505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DF312EF8-91BE-5946-BE31-8CFE107A2FEA}"/>
              </a:ext>
            </a:extLst>
          </p:cNvPr>
          <p:cNvSpPr/>
          <p:nvPr userDrawn="1"/>
        </p:nvSpPr>
        <p:spPr>
          <a:xfrm flipH="1" flipV="1">
            <a:off x="9857013" y="4976359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ole tea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>
            <a:extLst>
              <a:ext uri="{FF2B5EF4-FFF2-40B4-BE49-F238E27FC236}">
                <a16:creationId xmlns:a16="http://schemas.microsoft.com/office/drawing/2014/main" id="{6825B690-1AD7-4243-AC42-D2CF19B7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10678142" cy="1325563"/>
          </a:xfrm>
        </p:spPr>
        <p:txBody>
          <a:bodyPr lIns="0"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1825005B-0520-EC49-9A5C-554CB70038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0430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B6697B92-AF89-2C46-BC1E-6CB47E8EA4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429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3" name="Picture Placeholder 23">
            <a:extLst>
              <a:ext uri="{FF2B5EF4-FFF2-40B4-BE49-F238E27FC236}">
                <a16:creationId xmlns:a16="http://schemas.microsoft.com/office/drawing/2014/main" id="{FA9FEBB0-45F1-DF45-89C4-B343F8B20BA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549397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EF331731-A7FC-C245-A9C1-0B1A2E994D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49398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313B974E-E762-EE48-B2DF-C8F10DF734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49397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6" name="Picture Placeholder 23">
            <a:extLst>
              <a:ext uri="{FF2B5EF4-FFF2-40B4-BE49-F238E27FC236}">
                <a16:creationId xmlns:a16="http://schemas.microsoft.com/office/drawing/2014/main" id="{8BA62E8C-79E6-D245-B706-FFB1E051B2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48367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37" name="Text Placeholder 28">
            <a:extLst>
              <a:ext uri="{FF2B5EF4-FFF2-40B4-BE49-F238E27FC236}">
                <a16:creationId xmlns:a16="http://schemas.microsoft.com/office/drawing/2014/main" id="{4199EE50-5386-0446-8ADA-23C1B0D6EA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8368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38" name="Text Placeholder 28">
            <a:extLst>
              <a:ext uri="{FF2B5EF4-FFF2-40B4-BE49-F238E27FC236}">
                <a16:creationId xmlns:a16="http://schemas.microsoft.com/office/drawing/2014/main" id="{478AB5CA-B5A5-934D-BF51-1485953A70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48367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9" name="Picture Placeholder 23">
            <a:extLst>
              <a:ext uri="{FF2B5EF4-FFF2-40B4-BE49-F238E27FC236}">
                <a16:creationId xmlns:a16="http://schemas.microsoft.com/office/drawing/2014/main" id="{3D78BE06-1FC7-3C43-BD15-F4137B564B5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47335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40" name="Text Placeholder 28">
            <a:extLst>
              <a:ext uri="{FF2B5EF4-FFF2-40B4-BE49-F238E27FC236}">
                <a16:creationId xmlns:a16="http://schemas.microsoft.com/office/drawing/2014/main" id="{14F01FCC-4797-0343-8739-20331C751C1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47336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41" name="Text Placeholder 28">
            <a:extLst>
              <a:ext uri="{FF2B5EF4-FFF2-40B4-BE49-F238E27FC236}">
                <a16:creationId xmlns:a16="http://schemas.microsoft.com/office/drawing/2014/main" id="{33FBE6CA-EC7A-1A4B-ADA3-6B78F2DE0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7335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42" name="Picture Placeholder 23">
            <a:extLst>
              <a:ext uri="{FF2B5EF4-FFF2-40B4-BE49-F238E27FC236}">
                <a16:creationId xmlns:a16="http://schemas.microsoft.com/office/drawing/2014/main" id="{6DD7CCE4-AD48-B64F-909E-F88961FBDFC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50429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43" name="Text Placeholder 28">
            <a:extLst>
              <a:ext uri="{FF2B5EF4-FFF2-40B4-BE49-F238E27FC236}">
                <a16:creationId xmlns:a16="http://schemas.microsoft.com/office/drawing/2014/main" id="{C076E7E2-3D95-EA47-BF86-444615F1F1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0430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44" name="Text Placeholder 28">
            <a:extLst>
              <a:ext uri="{FF2B5EF4-FFF2-40B4-BE49-F238E27FC236}">
                <a16:creationId xmlns:a16="http://schemas.microsoft.com/office/drawing/2014/main" id="{612499D2-373C-3940-97A5-FCA8B245B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0429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45" name="Picture Placeholder 23">
            <a:extLst>
              <a:ext uri="{FF2B5EF4-FFF2-40B4-BE49-F238E27FC236}">
                <a16:creationId xmlns:a16="http://schemas.microsoft.com/office/drawing/2014/main" id="{24B34D6D-4F7E-3942-B8D7-9970BDE53C1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549397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46" name="Text Placeholder 28">
            <a:extLst>
              <a:ext uri="{FF2B5EF4-FFF2-40B4-BE49-F238E27FC236}">
                <a16:creationId xmlns:a16="http://schemas.microsoft.com/office/drawing/2014/main" id="{D34EDB1D-7E85-D242-B6AE-F6D6907D325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9398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47" name="Text Placeholder 28">
            <a:extLst>
              <a:ext uri="{FF2B5EF4-FFF2-40B4-BE49-F238E27FC236}">
                <a16:creationId xmlns:a16="http://schemas.microsoft.com/office/drawing/2014/main" id="{3E3BFFF0-114B-6D42-B5E0-8020AC2E26B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49397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48" name="Picture Placeholder 23">
            <a:extLst>
              <a:ext uri="{FF2B5EF4-FFF2-40B4-BE49-F238E27FC236}">
                <a16:creationId xmlns:a16="http://schemas.microsoft.com/office/drawing/2014/main" id="{EB4488EE-E854-724E-95AE-B9943EE249E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348367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49" name="Text Placeholder 28">
            <a:extLst>
              <a:ext uri="{FF2B5EF4-FFF2-40B4-BE49-F238E27FC236}">
                <a16:creationId xmlns:a16="http://schemas.microsoft.com/office/drawing/2014/main" id="{C5551B4D-583E-D644-9069-EC096CE76F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48368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50" name="Text Placeholder 28">
            <a:extLst>
              <a:ext uri="{FF2B5EF4-FFF2-40B4-BE49-F238E27FC236}">
                <a16:creationId xmlns:a16="http://schemas.microsoft.com/office/drawing/2014/main" id="{E30C4783-1643-2243-BB4F-E99E04D921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48367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51" name="Picture Placeholder 23">
            <a:extLst>
              <a:ext uri="{FF2B5EF4-FFF2-40B4-BE49-F238E27FC236}">
                <a16:creationId xmlns:a16="http://schemas.microsoft.com/office/drawing/2014/main" id="{7BBADCE0-02E8-3249-8CBA-17D3783DFE70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147335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52" name="Text Placeholder 28">
            <a:extLst>
              <a:ext uri="{FF2B5EF4-FFF2-40B4-BE49-F238E27FC236}">
                <a16:creationId xmlns:a16="http://schemas.microsoft.com/office/drawing/2014/main" id="{8D294C40-97E4-FF4F-8A02-10FC7D0EE8B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147336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53" name="Text Placeholder 28">
            <a:extLst>
              <a:ext uri="{FF2B5EF4-FFF2-40B4-BE49-F238E27FC236}">
                <a16:creationId xmlns:a16="http://schemas.microsoft.com/office/drawing/2014/main" id="{8B38241F-01B5-574C-A827-67C6352C463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7335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0445668-2DC5-E84C-8B16-922BC95F13F2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975CEC1F-EF25-4059-ABBA-8FEB7C2BFD5C}" type="datetime1">
              <a:rPr lang="en-GB" noProof="0" smtClean="0"/>
              <a:t>13/12/2025</a:t>
            </a:fld>
            <a:endParaRPr lang="en-GB" noProof="0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D9227732-A878-814C-8621-64ED1B2CCF9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E9F02AC-6DFB-0C47-BC8E-4B0594007F3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0572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me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+mn-lt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+mn-lt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+mn-lt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726E9C68-1964-4A8A-9427-98F10662CAE8}" type="datetime1">
              <a:rPr lang="en-GB" noProof="0" smtClean="0"/>
              <a:t>13/12/2025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9275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046A679D-7D96-4BF4-98D0-1033E9142F9A}" type="datetime1">
              <a:rPr lang="en-GB" noProof="0" smtClean="0"/>
              <a:t>13/12/2025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235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83235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1912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526318"/>
            <a:ext cx="3218688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rot="5400000">
            <a:off x="8580896" y="0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>
            <a:off x="-2364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 rot="5400000" flipH="1">
            <a:off x="11258144" y="5924144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>
              <a:latin typeface="+mn-lt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2587417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496CE679-96C2-428D-9AAE-1AD24CC6A009}" type="datetime1">
              <a:rPr lang="en-GB" noProof="0" smtClean="0"/>
              <a:t>13/12/2025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83787" y="2526318"/>
            <a:ext cx="3173279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3788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3D62993-A055-DF4F-9286-4FFE3A5C7FD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00082" y="2526318"/>
            <a:ext cx="3173279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896DA2E-4448-254C-86D1-9E16E63CC6A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0083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6976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122363"/>
            <a:ext cx="6220278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6220277" cy="2247219"/>
          </a:xfrm>
        </p:spPr>
        <p:txBody>
          <a:bodyPr rtlCol="0">
            <a:no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8264426" y="0"/>
            <a:ext cx="392757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3685939"/>
            <a:ext cx="3927573" cy="3178856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9563C76-BC00-DE47-88F5-C24D3CE3325A}"/>
              </a:ext>
            </a:extLst>
          </p:cNvPr>
          <p:cNvSpPr/>
          <p:nvPr userDrawn="1"/>
        </p:nvSpPr>
        <p:spPr>
          <a:xfrm>
            <a:off x="10228214" y="-1"/>
            <a:ext cx="1963787" cy="3178856"/>
          </a:xfrm>
          <a:custGeom>
            <a:avLst/>
            <a:gdLst>
              <a:gd name="connsiteX0" fmla="*/ 0 w 1963787"/>
              <a:gd name="connsiteY0" fmla="*/ 0 h 3178856"/>
              <a:gd name="connsiteX1" fmla="*/ 1963787 w 1963787"/>
              <a:gd name="connsiteY1" fmla="*/ 0 h 3178856"/>
              <a:gd name="connsiteX2" fmla="*/ 1963787 w 1963787"/>
              <a:gd name="connsiteY2" fmla="*/ 1967129 h 3178856"/>
              <a:gd name="connsiteX3" fmla="*/ 1963787 w 1963787"/>
              <a:gd name="connsiteY3" fmla="*/ 2349671 h 3178856"/>
              <a:gd name="connsiteX4" fmla="*/ 1963787 w 1963787"/>
              <a:gd name="connsiteY4" fmla="*/ 3178856 h 3178856"/>
              <a:gd name="connsiteX5" fmla="*/ 1963753 w 1963787"/>
              <a:gd name="connsiteY5" fmla="*/ 3178856 h 3178856"/>
              <a:gd name="connsiteX6" fmla="*/ 1763002 w 1963787"/>
              <a:gd name="connsiteY6" fmla="*/ 3168629 h 3178856"/>
              <a:gd name="connsiteX7" fmla="*/ 0 w 1963787"/>
              <a:gd name="connsiteY7" fmla="*/ 1197921 h 3178856"/>
              <a:gd name="connsiteX8" fmla="*/ 0 w 1963787"/>
              <a:gd name="connsiteY8" fmla="*/ 1039961 h 3178856"/>
              <a:gd name="connsiteX9" fmla="*/ 0 w 1963787"/>
              <a:gd name="connsiteY9" fmla="*/ 0 h 3178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3787" h="3178856">
                <a:moveTo>
                  <a:pt x="0" y="0"/>
                </a:moveTo>
                <a:lnTo>
                  <a:pt x="1963787" y="0"/>
                </a:lnTo>
                <a:lnTo>
                  <a:pt x="1963787" y="1967129"/>
                </a:lnTo>
                <a:lnTo>
                  <a:pt x="1963787" y="2349671"/>
                </a:lnTo>
                <a:lnTo>
                  <a:pt x="1963787" y="3178856"/>
                </a:lnTo>
                <a:lnTo>
                  <a:pt x="1963753" y="3178856"/>
                </a:lnTo>
                <a:lnTo>
                  <a:pt x="1763002" y="3168629"/>
                </a:lnTo>
                <a:cubicBezTo>
                  <a:pt x="772749" y="3067186"/>
                  <a:pt x="0" y="2223585"/>
                  <a:pt x="0" y="1197921"/>
                </a:cubicBezTo>
                <a:lnTo>
                  <a:pt x="0" y="103996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0FAF51C5-1188-4161-A3AE-51B85A4E9234}" type="datetime1">
              <a:rPr lang="en-GB" noProof="0" smtClean="0"/>
              <a:t>13/12/2025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60" r:id="rId5"/>
    <p:sldLayoutId id="2147483661" r:id="rId6"/>
    <p:sldLayoutId id="2147483654" r:id="rId7"/>
    <p:sldLayoutId id="2147483658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rtlCol="0"/>
          <a:lstStyle/>
          <a:p>
            <a:r>
              <a:rPr lang="en-GB" b="0" dirty="0">
                <a:ea typeface="+mj-lt"/>
                <a:cs typeface="+mj-lt"/>
              </a:rPr>
              <a:t>Study Designs in Clinical Epidemiology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9500507" cy="806675"/>
          </a:xfrm>
        </p:spPr>
        <p:txBody>
          <a:bodyPr rtlCol="0"/>
          <a:lstStyle/>
          <a:p>
            <a:pPr rtl="0"/>
            <a:r>
              <a:rPr lang="en-GB"/>
              <a:t>Mirjam Nilsson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802ED-6485-5EB1-B984-FE7D7B261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The Role of Study Design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CC695-2777-DAFB-EE58-8917573B9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buFont typeface="Calibri"/>
              <a:buChar char="-"/>
            </a:pPr>
            <a:r>
              <a:rPr lang="en-GB" b="1" dirty="0">
                <a:ea typeface="+mn-lt"/>
                <a:cs typeface="+mn-lt"/>
              </a:rPr>
              <a:t>Core Question:</a:t>
            </a:r>
            <a:r>
              <a:rPr lang="en-GB" dirty="0">
                <a:ea typeface="+mn-lt"/>
                <a:cs typeface="+mn-lt"/>
              </a:rPr>
              <a:t> How do we measure the impact of an exposure (risk factor, treatment) on an outcome (disease, cure)?</a:t>
            </a:r>
            <a:endParaRPr lang="en-GB"/>
          </a:p>
          <a:p>
            <a:pPr marL="285750" indent="-285750">
              <a:buFont typeface="Calibri"/>
              <a:buChar char="-"/>
            </a:pPr>
            <a:r>
              <a:rPr lang="en-GB" b="1" dirty="0">
                <a:ea typeface="+mn-lt"/>
                <a:cs typeface="+mn-lt"/>
              </a:rPr>
              <a:t>Study Design is the Blueprint:</a:t>
            </a:r>
            <a:r>
              <a:rPr lang="en-GB" dirty="0">
                <a:ea typeface="+mn-lt"/>
                <a:cs typeface="+mn-lt"/>
              </a:rPr>
              <a:t> It dictates the reliability and validity of the findings.</a:t>
            </a:r>
            <a:endParaRPr lang="en-GB"/>
          </a:p>
          <a:p>
            <a:pPr marL="285750" indent="-285750">
              <a:buFont typeface="Calibri"/>
              <a:buChar char="-"/>
            </a:pPr>
            <a:r>
              <a:rPr lang="en-GB" b="1" dirty="0">
                <a:ea typeface="+mn-lt"/>
                <a:cs typeface="+mn-lt"/>
              </a:rPr>
              <a:t>Hierarchy of Evidence:</a:t>
            </a:r>
            <a:r>
              <a:rPr lang="en-GB" dirty="0">
                <a:ea typeface="+mn-lt"/>
                <a:cs typeface="+mn-lt"/>
              </a:rPr>
              <a:t> The design determines its position on the evidence pyramid—from generating hypotheses to proving causality.</a:t>
            </a:r>
            <a:endParaRPr lang="en-GB"/>
          </a:p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A69B8F-4910-C2E0-1C7C-639570223D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n-GB" noProof="0" smtClean="0"/>
              <a:pPr rtl="0"/>
              <a:t>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7717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CF314-5B41-06D3-2CB1-DACC6FD20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Observational Studies (Defined)</a:t>
            </a:r>
            <a:endParaRPr lang="en-GB" sz="28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7FF18-A405-C8D6-649B-F52DF6B7E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GB" b="1" dirty="0">
                <a:ea typeface="+mn-lt"/>
                <a:cs typeface="+mn-lt"/>
              </a:rPr>
              <a:t>Definition:</a:t>
            </a:r>
            <a:r>
              <a:rPr lang="en-GB" dirty="0">
                <a:ea typeface="+mn-lt"/>
                <a:cs typeface="+mn-lt"/>
              </a:rPr>
              <a:t> The investigator </a:t>
            </a:r>
            <a:r>
              <a:rPr lang="en-GB" b="1" dirty="0">
                <a:ea typeface="+mn-lt"/>
                <a:cs typeface="+mn-lt"/>
              </a:rPr>
              <a:t>observes</a:t>
            </a:r>
            <a:r>
              <a:rPr lang="en-GB" dirty="0">
                <a:ea typeface="+mn-lt"/>
                <a:cs typeface="+mn-lt"/>
              </a:rPr>
              <a:t> nature without intervening or controlling the exposure.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 b="1" dirty="0">
                <a:ea typeface="+mn-lt"/>
                <a:cs typeface="+mn-lt"/>
              </a:rPr>
              <a:t>Purpose:</a:t>
            </a:r>
            <a:r>
              <a:rPr lang="en-GB" dirty="0">
                <a:ea typeface="+mn-lt"/>
                <a:cs typeface="+mn-lt"/>
              </a:rPr>
              <a:t> Identifying potential risk factors, determining disease incidence and prevalence, and generating hypotheses.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GB" b="1" dirty="0">
                <a:ea typeface="+mn-lt"/>
                <a:cs typeface="+mn-lt"/>
              </a:rPr>
              <a:t>Limitation:</a:t>
            </a:r>
            <a:r>
              <a:rPr lang="en-GB" dirty="0">
                <a:ea typeface="+mn-lt"/>
                <a:cs typeface="+mn-lt"/>
              </a:rPr>
              <a:t> </a:t>
            </a:r>
            <a:r>
              <a:rPr lang="en-GB" b="1" dirty="0">
                <a:ea typeface="+mn-lt"/>
                <a:cs typeface="+mn-lt"/>
              </a:rPr>
              <a:t>Cannot prove causality</a:t>
            </a:r>
            <a:r>
              <a:rPr lang="en-GB" dirty="0">
                <a:ea typeface="+mn-lt"/>
                <a:cs typeface="+mn-lt"/>
              </a:rPr>
              <a:t> definitively, as confounding factors may influence the results.</a:t>
            </a:r>
            <a:endParaRPr lang="en-GB" dirty="0"/>
          </a:p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1A093D-B48F-B47F-BF79-377A52410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n-GB" noProof="0" smtClean="0"/>
              <a:pPr rtl="0"/>
              <a:t>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73757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84562-A558-3799-4265-56059073B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Type 1: Cross-Sectional Studies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507FF-CC3E-652B-DC37-34951F6FE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buFont typeface="Calibri" panose="020B0604020202020204" pitchFamily="34" charset="0"/>
              <a:buChar char="-"/>
            </a:pPr>
            <a:r>
              <a:rPr lang="en-GB" b="1" dirty="0">
                <a:ea typeface="+mn-lt"/>
                <a:cs typeface="+mn-lt"/>
              </a:rPr>
              <a:t>Design:</a:t>
            </a:r>
            <a:r>
              <a:rPr lang="en-GB" dirty="0">
                <a:ea typeface="+mn-lt"/>
                <a:cs typeface="+mn-lt"/>
              </a:rPr>
              <a:t> Measures both exposure and outcome </a:t>
            </a:r>
            <a:r>
              <a:rPr lang="en-GB" b="1" dirty="0">
                <a:ea typeface="+mn-lt"/>
                <a:cs typeface="+mn-lt"/>
              </a:rPr>
              <a:t>at a single point in time</a:t>
            </a:r>
            <a:r>
              <a:rPr lang="en-GB" dirty="0">
                <a:ea typeface="+mn-lt"/>
                <a:cs typeface="+mn-lt"/>
              </a:rPr>
              <a:t> (like a snapshot).</a:t>
            </a:r>
            <a:endParaRPr lang="en-GB"/>
          </a:p>
          <a:p>
            <a:pPr marL="285750" indent="-285750">
              <a:buFont typeface="Calibri"/>
              <a:buChar char="-"/>
            </a:pPr>
            <a:r>
              <a:rPr lang="en-GB" b="1" dirty="0">
                <a:ea typeface="+mn-lt"/>
                <a:cs typeface="+mn-lt"/>
              </a:rPr>
              <a:t>Key Measure:</a:t>
            </a:r>
            <a:r>
              <a:rPr lang="en-GB" dirty="0">
                <a:ea typeface="+mn-lt"/>
                <a:cs typeface="+mn-lt"/>
              </a:rPr>
              <a:t> </a:t>
            </a:r>
            <a:r>
              <a:rPr lang="en-GB" b="1" dirty="0">
                <a:ea typeface="+mn-lt"/>
                <a:cs typeface="+mn-lt"/>
              </a:rPr>
              <a:t>Prevalence</a:t>
            </a:r>
            <a:r>
              <a:rPr lang="en-GB" dirty="0">
                <a:ea typeface="+mn-lt"/>
                <a:cs typeface="+mn-lt"/>
              </a:rPr>
              <a:t> (the proportion of existing cases).</a:t>
            </a:r>
            <a:endParaRPr lang="en-GB" dirty="0"/>
          </a:p>
          <a:p>
            <a:pPr marL="285750" indent="-285750">
              <a:buFont typeface="Calibri"/>
              <a:buChar char="-"/>
            </a:pPr>
            <a:r>
              <a:rPr lang="en-GB" b="1" dirty="0">
                <a:ea typeface="+mn-lt"/>
                <a:cs typeface="+mn-lt"/>
              </a:rPr>
              <a:t>Strengths:</a:t>
            </a:r>
            <a:r>
              <a:rPr lang="en-GB" dirty="0">
                <a:ea typeface="+mn-lt"/>
                <a:cs typeface="+mn-lt"/>
              </a:rPr>
              <a:t> Quick, inexpensive, good for determining the burden of disease.</a:t>
            </a:r>
            <a:endParaRPr lang="en-GB" dirty="0"/>
          </a:p>
          <a:p>
            <a:pPr marL="285750" indent="-285750">
              <a:buFont typeface="Calibri"/>
              <a:buChar char="-"/>
            </a:pPr>
            <a:r>
              <a:rPr lang="en-GB" b="1" dirty="0">
                <a:ea typeface="+mn-lt"/>
                <a:cs typeface="+mn-lt"/>
              </a:rPr>
              <a:t>Weakness:</a:t>
            </a:r>
            <a:r>
              <a:rPr lang="en-GB" dirty="0">
                <a:ea typeface="+mn-lt"/>
                <a:cs typeface="+mn-lt"/>
              </a:rPr>
              <a:t> Cannot establish a temporal sequence (which came first: the exposure or the disease?).</a:t>
            </a:r>
            <a:endParaRPr lang="en-GB" dirty="0"/>
          </a:p>
          <a:p>
            <a:pPr marL="285750" indent="-285750">
              <a:buFont typeface="Calibri"/>
              <a:buChar char="-"/>
            </a:pPr>
            <a:r>
              <a:rPr lang="en-GB" i="1" dirty="0">
                <a:ea typeface="+mn-lt"/>
                <a:cs typeface="+mn-lt"/>
              </a:rPr>
              <a:t>Example:</a:t>
            </a:r>
            <a:r>
              <a:rPr lang="en-GB" dirty="0">
                <a:ea typeface="+mn-lt"/>
                <a:cs typeface="+mn-lt"/>
              </a:rPr>
              <a:t> Surveying a large population to find the current prevalence of smoking and hypertension simultaneously.</a:t>
            </a:r>
            <a:endParaRPr lang="en-GB" dirty="0"/>
          </a:p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C926A9-8888-85B6-1880-FC1A3E1EA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n-GB" noProof="0" smtClean="0"/>
              <a:pPr rtl="0"/>
              <a:t>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62598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4B7B9-22A4-B7DC-7B77-CFA74DA6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Type 2: Case-Control Studies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5CE77-0FAD-5AC5-0003-9A20C214A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buFont typeface="Calibri" panose="020B0604020202020204" pitchFamily="34" charset="0"/>
              <a:buChar char="-"/>
            </a:pPr>
            <a:r>
              <a:rPr lang="en-GB" b="1" dirty="0">
                <a:ea typeface="+mn-lt"/>
                <a:cs typeface="+mn-lt"/>
              </a:rPr>
              <a:t>Design:</a:t>
            </a:r>
            <a:r>
              <a:rPr lang="en-GB" dirty="0">
                <a:ea typeface="+mn-lt"/>
                <a:cs typeface="+mn-lt"/>
              </a:rPr>
              <a:t> </a:t>
            </a:r>
            <a:r>
              <a:rPr lang="en-GB" b="1" dirty="0">
                <a:ea typeface="+mn-lt"/>
                <a:cs typeface="+mn-lt"/>
              </a:rPr>
              <a:t>Retrospective</a:t>
            </a:r>
            <a:r>
              <a:rPr lang="en-GB" dirty="0">
                <a:ea typeface="+mn-lt"/>
                <a:cs typeface="+mn-lt"/>
              </a:rPr>
              <a:t> (looking backward). Investigators start with the </a:t>
            </a:r>
            <a:r>
              <a:rPr lang="en-GB" b="1" dirty="0">
                <a:ea typeface="+mn-lt"/>
                <a:cs typeface="+mn-lt"/>
              </a:rPr>
              <a:t>outcome (disease)</a:t>
            </a:r>
            <a:r>
              <a:rPr lang="en-GB" dirty="0">
                <a:ea typeface="+mn-lt"/>
                <a:cs typeface="+mn-lt"/>
              </a:rPr>
              <a:t> and look back to determine past </a:t>
            </a:r>
            <a:r>
              <a:rPr lang="en-GB" b="1" dirty="0">
                <a:ea typeface="+mn-lt"/>
                <a:cs typeface="+mn-lt"/>
              </a:rPr>
              <a:t>exposure</a:t>
            </a:r>
            <a:r>
              <a:rPr lang="en-GB" dirty="0">
                <a:ea typeface="+mn-lt"/>
                <a:cs typeface="+mn-lt"/>
              </a:rPr>
              <a:t>.</a:t>
            </a:r>
            <a:endParaRPr lang="en-GB" dirty="0"/>
          </a:p>
          <a:p>
            <a:pPr marL="285750" indent="-285750">
              <a:buFont typeface="Calibri"/>
              <a:buChar char="-"/>
            </a:pPr>
            <a:r>
              <a:rPr lang="en-GB" b="1" dirty="0">
                <a:ea typeface="+mn-lt"/>
                <a:cs typeface="+mn-lt"/>
              </a:rPr>
              <a:t>Groups:</a:t>
            </a:r>
            <a:r>
              <a:rPr lang="en-GB" dirty="0">
                <a:ea typeface="+mn-lt"/>
                <a:cs typeface="+mn-lt"/>
              </a:rPr>
              <a:t> </a:t>
            </a:r>
            <a:r>
              <a:rPr lang="en-GB" b="1" dirty="0">
                <a:ea typeface="+mn-lt"/>
                <a:cs typeface="+mn-lt"/>
              </a:rPr>
              <a:t>Cases</a:t>
            </a:r>
            <a:r>
              <a:rPr lang="en-GB" dirty="0">
                <a:ea typeface="+mn-lt"/>
                <a:cs typeface="+mn-lt"/>
              </a:rPr>
              <a:t> (with the disease) and </a:t>
            </a:r>
            <a:r>
              <a:rPr lang="en-GB" b="1" dirty="0">
                <a:ea typeface="+mn-lt"/>
                <a:cs typeface="+mn-lt"/>
              </a:rPr>
              <a:t>Controls</a:t>
            </a:r>
            <a:r>
              <a:rPr lang="en-GB" dirty="0">
                <a:ea typeface="+mn-lt"/>
                <a:cs typeface="+mn-lt"/>
              </a:rPr>
              <a:t> (without the disease).</a:t>
            </a:r>
            <a:endParaRPr lang="en-GB" dirty="0"/>
          </a:p>
          <a:p>
            <a:pPr marL="285750" indent="-285750">
              <a:buFont typeface="Calibri"/>
              <a:buChar char="-"/>
            </a:pPr>
            <a:r>
              <a:rPr lang="en-GB" b="1" dirty="0">
                <a:ea typeface="+mn-lt"/>
                <a:cs typeface="+mn-lt"/>
              </a:rPr>
              <a:t>Key Measure:</a:t>
            </a:r>
            <a:r>
              <a:rPr lang="en-GB" dirty="0">
                <a:ea typeface="+mn-lt"/>
                <a:cs typeface="+mn-lt"/>
              </a:rPr>
              <a:t> </a:t>
            </a:r>
            <a:r>
              <a:rPr lang="en-GB" b="1" dirty="0">
                <a:ea typeface="+mn-lt"/>
                <a:cs typeface="+mn-lt"/>
              </a:rPr>
              <a:t>Odds Ratio (OR)</a:t>
            </a:r>
            <a:r>
              <a:rPr lang="en-GB" dirty="0">
                <a:ea typeface="+mn-lt"/>
                <a:cs typeface="+mn-lt"/>
              </a:rPr>
              <a:t>.</a:t>
            </a:r>
            <a:endParaRPr lang="en-GB" dirty="0"/>
          </a:p>
          <a:p>
            <a:pPr marL="285750" indent="-285750">
              <a:buFont typeface="Calibri"/>
              <a:buChar char="-"/>
            </a:pPr>
            <a:r>
              <a:rPr lang="en-GB" b="1" dirty="0">
                <a:ea typeface="+mn-lt"/>
                <a:cs typeface="+mn-lt"/>
              </a:rPr>
              <a:t>Strengths:</a:t>
            </a:r>
            <a:r>
              <a:rPr lang="en-GB" dirty="0">
                <a:ea typeface="+mn-lt"/>
                <a:cs typeface="+mn-lt"/>
              </a:rPr>
              <a:t> Efficient for </a:t>
            </a:r>
            <a:r>
              <a:rPr lang="en-GB" b="1" dirty="0">
                <a:ea typeface="+mn-lt"/>
                <a:cs typeface="+mn-lt"/>
              </a:rPr>
              <a:t>rare diseases</a:t>
            </a:r>
            <a:r>
              <a:rPr lang="en-GB" dirty="0">
                <a:ea typeface="+mn-lt"/>
                <a:cs typeface="+mn-lt"/>
              </a:rPr>
              <a:t>; can study multiple potential exposures.</a:t>
            </a:r>
            <a:endParaRPr lang="en-GB" dirty="0"/>
          </a:p>
          <a:p>
            <a:pPr marL="285750" indent="-285750">
              <a:buFont typeface="Calibri"/>
              <a:buChar char="-"/>
            </a:pPr>
            <a:r>
              <a:rPr lang="en-GB" b="1" dirty="0">
                <a:ea typeface="+mn-lt"/>
                <a:cs typeface="+mn-lt"/>
              </a:rPr>
              <a:t>Weakness:</a:t>
            </a:r>
            <a:r>
              <a:rPr lang="en-GB" dirty="0">
                <a:ea typeface="+mn-lt"/>
                <a:cs typeface="+mn-lt"/>
              </a:rPr>
              <a:t> Highly susceptible to </a:t>
            </a:r>
            <a:r>
              <a:rPr lang="en-GB" b="1" dirty="0">
                <a:ea typeface="+mn-lt"/>
                <a:cs typeface="+mn-lt"/>
              </a:rPr>
              <a:t>Recall Bias</a:t>
            </a:r>
            <a:r>
              <a:rPr lang="en-GB" dirty="0">
                <a:ea typeface="+mn-lt"/>
                <a:cs typeface="+mn-lt"/>
              </a:rPr>
              <a:t> (cases may remember exposures differently than controls) and </a:t>
            </a:r>
            <a:r>
              <a:rPr lang="en-GB" b="1" dirty="0">
                <a:ea typeface="+mn-lt"/>
                <a:cs typeface="+mn-lt"/>
              </a:rPr>
              <a:t>Selection Bias</a:t>
            </a:r>
            <a:r>
              <a:rPr lang="en-GB" dirty="0">
                <a:ea typeface="+mn-lt"/>
                <a:cs typeface="+mn-lt"/>
              </a:rPr>
              <a:t> (choosing the wrong controls).</a:t>
            </a:r>
            <a:endParaRPr lang="en-GB" dirty="0"/>
          </a:p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E8A897-A5D5-910A-CF0B-504C6DDE6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n-GB" noProof="0" smtClean="0"/>
              <a:pPr rtl="0"/>
              <a:t>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15751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74A6D-4B6F-4951-C863-44A591B4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Type 3: Cohort Studies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0E651-4FC0-C045-9B12-F5B7F87CE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buFont typeface="Calibri" panose="020B0604020202020204" pitchFamily="34" charset="0"/>
              <a:buChar char="-"/>
            </a:pPr>
            <a:r>
              <a:rPr lang="en-GB" b="1" dirty="0">
                <a:ea typeface="+mn-lt"/>
                <a:cs typeface="+mn-lt"/>
              </a:rPr>
              <a:t>Design:</a:t>
            </a:r>
            <a:r>
              <a:rPr lang="en-GB" dirty="0">
                <a:ea typeface="+mn-lt"/>
                <a:cs typeface="+mn-lt"/>
              </a:rPr>
              <a:t> </a:t>
            </a:r>
            <a:r>
              <a:rPr lang="en-GB" b="1" dirty="0">
                <a:ea typeface="+mn-lt"/>
                <a:cs typeface="+mn-lt"/>
              </a:rPr>
              <a:t>Prospective</a:t>
            </a:r>
            <a:r>
              <a:rPr lang="en-GB" dirty="0">
                <a:ea typeface="+mn-lt"/>
                <a:cs typeface="+mn-lt"/>
              </a:rPr>
              <a:t> (looking forward, though sometimes done retrospectively using existing records). Investigators start with the </a:t>
            </a:r>
            <a:r>
              <a:rPr lang="en-GB" b="1" dirty="0">
                <a:ea typeface="+mn-lt"/>
                <a:cs typeface="+mn-lt"/>
              </a:rPr>
              <a:t>exposure</a:t>
            </a:r>
            <a:r>
              <a:rPr lang="en-GB" dirty="0">
                <a:ea typeface="+mn-lt"/>
                <a:cs typeface="+mn-lt"/>
              </a:rPr>
              <a:t> and follow groups over time to see who develops the </a:t>
            </a:r>
            <a:r>
              <a:rPr lang="en-GB" b="1" dirty="0">
                <a:ea typeface="+mn-lt"/>
                <a:cs typeface="+mn-lt"/>
              </a:rPr>
              <a:t>outcome</a:t>
            </a:r>
            <a:r>
              <a:rPr lang="en-GB" dirty="0">
                <a:ea typeface="+mn-lt"/>
                <a:cs typeface="+mn-lt"/>
              </a:rPr>
              <a:t>.</a:t>
            </a:r>
            <a:endParaRPr lang="en-GB"/>
          </a:p>
          <a:p>
            <a:pPr marL="285750" indent="-285750">
              <a:buFont typeface="Calibri"/>
              <a:buChar char="-"/>
            </a:pPr>
            <a:r>
              <a:rPr lang="en-GB" b="1" dirty="0">
                <a:ea typeface="+mn-lt"/>
                <a:cs typeface="+mn-lt"/>
              </a:rPr>
              <a:t>Groups:</a:t>
            </a:r>
            <a:r>
              <a:rPr lang="en-GB" dirty="0">
                <a:ea typeface="+mn-lt"/>
                <a:cs typeface="+mn-lt"/>
              </a:rPr>
              <a:t> </a:t>
            </a:r>
            <a:r>
              <a:rPr lang="en-GB" b="1" dirty="0">
                <a:ea typeface="+mn-lt"/>
                <a:cs typeface="+mn-lt"/>
              </a:rPr>
              <a:t>Exposed</a:t>
            </a:r>
            <a:r>
              <a:rPr lang="en-GB" dirty="0">
                <a:ea typeface="+mn-lt"/>
                <a:cs typeface="+mn-lt"/>
              </a:rPr>
              <a:t> (e.g., healthcare workers) and </a:t>
            </a:r>
            <a:r>
              <a:rPr lang="en-GB" b="1" dirty="0">
                <a:ea typeface="+mn-lt"/>
                <a:cs typeface="+mn-lt"/>
              </a:rPr>
              <a:t>Unexposed</a:t>
            </a:r>
            <a:r>
              <a:rPr lang="en-GB" dirty="0">
                <a:ea typeface="+mn-lt"/>
                <a:cs typeface="+mn-lt"/>
              </a:rPr>
              <a:t> (e.g., non-healthcare workers).</a:t>
            </a:r>
            <a:endParaRPr lang="en-GB" dirty="0"/>
          </a:p>
          <a:p>
            <a:pPr marL="285750" indent="-285750">
              <a:buFont typeface="Calibri"/>
              <a:buChar char="-"/>
            </a:pPr>
            <a:r>
              <a:rPr lang="en-GB" b="1" dirty="0">
                <a:ea typeface="+mn-lt"/>
                <a:cs typeface="+mn-lt"/>
              </a:rPr>
              <a:t>Key Measure:</a:t>
            </a:r>
            <a:r>
              <a:rPr lang="en-GB" dirty="0">
                <a:ea typeface="+mn-lt"/>
                <a:cs typeface="+mn-lt"/>
              </a:rPr>
              <a:t> </a:t>
            </a:r>
            <a:r>
              <a:rPr lang="en-GB" b="1" dirty="0">
                <a:ea typeface="+mn-lt"/>
                <a:cs typeface="+mn-lt"/>
              </a:rPr>
              <a:t>Incidence</a:t>
            </a:r>
            <a:r>
              <a:rPr lang="en-GB" dirty="0">
                <a:ea typeface="+mn-lt"/>
                <a:cs typeface="+mn-lt"/>
              </a:rPr>
              <a:t> and </a:t>
            </a:r>
            <a:r>
              <a:rPr lang="en-GB" b="1" dirty="0">
                <a:ea typeface="+mn-lt"/>
                <a:cs typeface="+mn-lt"/>
              </a:rPr>
              <a:t>Relative Risk (RR)</a:t>
            </a:r>
            <a:r>
              <a:rPr lang="en-GB" dirty="0">
                <a:ea typeface="+mn-lt"/>
                <a:cs typeface="+mn-lt"/>
              </a:rPr>
              <a:t>.</a:t>
            </a:r>
            <a:endParaRPr lang="en-GB" dirty="0"/>
          </a:p>
          <a:p>
            <a:pPr marL="285750" indent="-285750">
              <a:buFont typeface="Calibri"/>
              <a:buChar char="-"/>
            </a:pPr>
            <a:r>
              <a:rPr lang="en-GB" b="1" dirty="0">
                <a:ea typeface="+mn-lt"/>
                <a:cs typeface="+mn-lt"/>
              </a:rPr>
              <a:t>Strengths:</a:t>
            </a:r>
            <a:r>
              <a:rPr lang="en-GB" dirty="0">
                <a:ea typeface="+mn-lt"/>
                <a:cs typeface="+mn-lt"/>
              </a:rPr>
              <a:t> Establishes a clear </a:t>
            </a:r>
            <a:r>
              <a:rPr lang="en-GB" b="1" dirty="0">
                <a:ea typeface="+mn-lt"/>
                <a:cs typeface="+mn-lt"/>
              </a:rPr>
              <a:t>temporal sequence</a:t>
            </a:r>
            <a:r>
              <a:rPr lang="en-GB" dirty="0">
                <a:ea typeface="+mn-lt"/>
                <a:cs typeface="+mn-lt"/>
              </a:rPr>
              <a:t> (exposure precedes outcome); good for rare exposures.</a:t>
            </a:r>
            <a:endParaRPr lang="en-GB" dirty="0"/>
          </a:p>
          <a:p>
            <a:pPr marL="285750" indent="-285750">
              <a:buFont typeface="Calibri"/>
              <a:buChar char="-"/>
            </a:pPr>
            <a:r>
              <a:rPr lang="en-GB" b="1" dirty="0">
                <a:ea typeface="+mn-lt"/>
                <a:cs typeface="+mn-lt"/>
              </a:rPr>
              <a:t>Weakness:</a:t>
            </a:r>
            <a:r>
              <a:rPr lang="en-GB" dirty="0">
                <a:ea typeface="+mn-lt"/>
                <a:cs typeface="+mn-lt"/>
              </a:rPr>
              <a:t> Expensive and time-consuming; poor for </a:t>
            </a:r>
            <a:r>
              <a:rPr lang="en-GB" b="1" dirty="0">
                <a:ea typeface="+mn-lt"/>
                <a:cs typeface="+mn-lt"/>
              </a:rPr>
              <a:t>rare diseases</a:t>
            </a:r>
            <a:r>
              <a:rPr lang="en-GB" dirty="0">
                <a:ea typeface="+mn-lt"/>
                <a:cs typeface="+mn-lt"/>
              </a:rPr>
              <a:t>; susceptible to </a:t>
            </a:r>
            <a:r>
              <a:rPr lang="en-GB" b="1" dirty="0">
                <a:ea typeface="+mn-lt"/>
                <a:cs typeface="+mn-lt"/>
              </a:rPr>
              <a:t>Loss to Follow-up</a:t>
            </a:r>
            <a:r>
              <a:rPr lang="en-GB" dirty="0">
                <a:ea typeface="+mn-lt"/>
                <a:cs typeface="+mn-lt"/>
              </a:rPr>
              <a:t>.</a:t>
            </a:r>
            <a:endParaRPr lang="en-GB" dirty="0"/>
          </a:p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85152-00AD-859A-84BA-91CC6BEAC3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n-GB" noProof="0" smtClean="0"/>
              <a:pPr rtl="0"/>
              <a:t>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36837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7942A-395B-1D7C-E0D1-6AF978730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1800" dirty="0">
                <a:latin typeface="Calibri"/>
                <a:ea typeface="Calibri"/>
                <a:cs typeface="Calibri"/>
              </a:rPr>
              <a:t>Conclusion &amp; Takeaways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E5BAC-B620-87F8-F326-1A7702548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buFont typeface="Calibri" panose="020B0604020202020204" pitchFamily="34" charset="0"/>
              <a:buChar char="-"/>
            </a:pPr>
            <a:r>
              <a:rPr lang="en-GB" b="1" dirty="0">
                <a:ea typeface="+mn-lt"/>
                <a:cs typeface="+mn-lt"/>
              </a:rPr>
              <a:t>Design Dictates Evidence:</a:t>
            </a:r>
            <a:r>
              <a:rPr lang="en-GB" dirty="0">
                <a:ea typeface="+mn-lt"/>
                <a:cs typeface="+mn-lt"/>
              </a:rPr>
              <a:t> The type of clinical question determines the appropriate study design.</a:t>
            </a:r>
            <a:endParaRPr lang="en-GB"/>
          </a:p>
          <a:p>
            <a:pPr marL="285750" indent="-285750">
              <a:buFont typeface="Calibri"/>
              <a:buChar char="-"/>
            </a:pPr>
            <a:r>
              <a:rPr lang="en-GB" b="1">
                <a:ea typeface="+mn-lt"/>
                <a:cs typeface="+mn-lt"/>
              </a:rPr>
              <a:t>For </a:t>
            </a:r>
            <a:r>
              <a:rPr lang="en-GB" b="1" err="1">
                <a:ea typeface="+mn-lt"/>
                <a:cs typeface="+mn-lt"/>
              </a:rPr>
              <a:t>Etiology</a:t>
            </a:r>
            <a:r>
              <a:rPr lang="en-GB" b="1">
                <a:ea typeface="+mn-lt"/>
                <a:cs typeface="+mn-lt"/>
              </a:rPr>
              <a:t>/Risk:</a:t>
            </a:r>
            <a:r>
              <a:rPr lang="en-GB">
                <a:ea typeface="+mn-lt"/>
                <a:cs typeface="+mn-lt"/>
              </a:rPr>
              <a:t> Cohort studies offer the best observational evidence.</a:t>
            </a:r>
            <a:endParaRPr lang="en-GB"/>
          </a:p>
          <a:p>
            <a:pPr marL="285750" indent="-285750">
              <a:buFont typeface="Calibri"/>
              <a:buChar char="-"/>
            </a:pPr>
            <a:r>
              <a:rPr lang="en-GB" b="1">
                <a:ea typeface="+mn-lt"/>
                <a:cs typeface="+mn-lt"/>
              </a:rPr>
              <a:t>For Therapy/Efficacy:</a:t>
            </a:r>
            <a:r>
              <a:rPr lang="en-GB">
                <a:ea typeface="+mn-lt"/>
                <a:cs typeface="+mn-lt"/>
              </a:rPr>
              <a:t> RCTs are required to prove a treatment works.</a:t>
            </a:r>
            <a:endParaRPr lang="en-GB"/>
          </a:p>
          <a:p>
            <a:pPr marL="285750" indent="-285750">
              <a:buFont typeface="Calibri"/>
              <a:buChar char="-"/>
            </a:pPr>
            <a:r>
              <a:rPr lang="en-GB" b="1">
                <a:ea typeface="+mn-lt"/>
                <a:cs typeface="+mn-lt"/>
              </a:rPr>
              <a:t>Critical Appraisal is Key:</a:t>
            </a:r>
            <a:r>
              <a:rPr lang="en-GB">
                <a:ea typeface="+mn-lt"/>
                <a:cs typeface="+mn-lt"/>
              </a:rPr>
              <a:t> Clinicians must understand the study design to correctly interpret the strength and applicability of the findings.</a:t>
            </a:r>
            <a:endParaRPr lang="en-GB"/>
          </a:p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C3F9DF-BF40-397E-FC67-8686DC03B2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n-GB" noProof="0" smtClean="0"/>
              <a:pPr rtl="0"/>
              <a:t>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57120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342FAFE-88B4-49B4-9588-86CB0E564E5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2076B5C-85B0-4D30-852D-5E5312EEA9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F1176D5-513E-4E73-98C9-4CEA832F57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TM45331398</Template>
  <TotalTime>0</TotalTime>
  <Words>436</Words>
  <Application>Microsoft Office PowerPoint</Application>
  <PresentationFormat>Widescreen</PresentationFormat>
  <Paragraphs>156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Study Designs in Clinical Epidemiology</vt:lpstr>
      <vt:lpstr>The Role of Study Design</vt:lpstr>
      <vt:lpstr>Observational Studies (Defined)</vt:lpstr>
      <vt:lpstr>Type 1: Cross-Sectional Studies</vt:lpstr>
      <vt:lpstr>Type 2: Case-Control Studies</vt:lpstr>
      <vt:lpstr>Type 3: Cohort Studies</vt:lpstr>
      <vt:lpstr>Conclusion &amp;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29</cp:revision>
  <dcterms:created xsi:type="dcterms:W3CDTF">2025-12-14T01:39:16Z</dcterms:created>
  <dcterms:modified xsi:type="dcterms:W3CDTF">2025-12-14T01:43:31Z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