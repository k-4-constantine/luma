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3C3CD-AEBF-4C99-A39B-439AF2D6EAC9}" v="129" dt="2025-12-14T01:37:57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60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8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5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5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2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8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83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5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2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7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79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95F006D-ED1F-7878-88D3-BA954B34F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246" y="991723"/>
            <a:ext cx="10681878" cy="3174690"/>
          </a:xfrm>
        </p:spPr>
        <p:txBody>
          <a:bodyPr>
            <a:normAutofit/>
          </a:bodyPr>
          <a:lstStyle/>
          <a:p>
            <a:r>
              <a:rPr lang="en-GB" sz="7200" b="0" dirty="0">
                <a:ea typeface="+mj-lt"/>
                <a:cs typeface="+mj-lt"/>
              </a:rPr>
              <a:t>Clinical Epidemiology: Bridging Evidence and Practice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606" y="4970490"/>
            <a:ext cx="10681878" cy="111793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6500" b="1" dirty="0"/>
              <a:t>F. Fixer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6500" b="1" dirty="0"/>
              <a:t>13-12-2025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55078FD-0108-1F48-31ED-337DD654F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17877" y="4501201"/>
            <a:ext cx="10556246" cy="18288"/>
          </a:xfrm>
          <a:custGeom>
            <a:avLst/>
            <a:gdLst>
              <a:gd name="connsiteX0" fmla="*/ 0 w 10556246"/>
              <a:gd name="connsiteY0" fmla="*/ 18288 h 18288"/>
              <a:gd name="connsiteX1" fmla="*/ 10556246 w 10556246"/>
              <a:gd name="connsiteY1" fmla="*/ 18288 h 18288"/>
              <a:gd name="connsiteX2" fmla="*/ 10556246 w 10556246"/>
              <a:gd name="connsiteY2" fmla="*/ 0 h 18288"/>
              <a:gd name="connsiteX3" fmla="*/ 0 w 10556246"/>
              <a:gd name="connsiteY3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6246" h="18288">
                <a:moveTo>
                  <a:pt x="0" y="18288"/>
                </a:moveTo>
                <a:lnTo>
                  <a:pt x="10556246" y="18288"/>
                </a:lnTo>
                <a:lnTo>
                  <a:pt x="105562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F06FC24-1271-EF82-C58D-1DB7482ED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04909" y="3180836"/>
            <a:ext cx="54864" cy="2628927"/>
          </a:xfrm>
          <a:custGeom>
            <a:avLst/>
            <a:gdLst>
              <a:gd name="connsiteX0" fmla="*/ 0 w 54864"/>
              <a:gd name="connsiteY0" fmla="*/ 2628927 h 2628927"/>
              <a:gd name="connsiteX1" fmla="*/ 0 w 54864"/>
              <a:gd name="connsiteY1" fmla="*/ 0 h 2628927"/>
              <a:gd name="connsiteX2" fmla="*/ 54864 w 54864"/>
              <a:gd name="connsiteY2" fmla="*/ 0 h 2628927"/>
              <a:gd name="connsiteX3" fmla="*/ 54864 w 54864"/>
              <a:gd name="connsiteY3" fmla="*/ 2628927 h 262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" h="2628927">
                <a:moveTo>
                  <a:pt x="0" y="2628927"/>
                </a:moveTo>
                <a:lnTo>
                  <a:pt x="0" y="0"/>
                </a:lnTo>
                <a:lnTo>
                  <a:pt x="54864" y="0"/>
                </a:lnTo>
                <a:lnTo>
                  <a:pt x="54864" y="262892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30FF-1DC9-FED8-AA6D-8B8BE101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200" dirty="0"/>
              <a:t>What is Clinical Epidemiology?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4C391-5679-9E73-6599-693A6BD7C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GB" b="1" dirty="0"/>
          </a:p>
          <a:p>
            <a:r>
              <a:rPr lang="en-GB" b="1" dirty="0">
                <a:ea typeface="+mn-lt"/>
                <a:cs typeface="+mn-lt"/>
              </a:rPr>
              <a:t>Definition:</a:t>
            </a:r>
            <a:r>
              <a:rPr lang="en-GB" dirty="0">
                <a:ea typeface="+mn-lt"/>
                <a:cs typeface="+mn-lt"/>
              </a:rPr>
              <a:t> The application of epidemiological principles and methods to problems encountered in individual patients and clinical medicine.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Focus:</a:t>
            </a:r>
            <a:r>
              <a:rPr lang="en-GB" dirty="0">
                <a:ea typeface="+mn-lt"/>
                <a:cs typeface="+mn-lt"/>
              </a:rPr>
              <a:t> It shifts the focus of epidemiology from population health to clinical decision-making.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Core Question:</a:t>
            </a:r>
            <a:r>
              <a:rPr lang="en-GB" dirty="0">
                <a:ea typeface="+mn-lt"/>
                <a:cs typeface="+mn-lt"/>
              </a:rPr>
              <a:t> "Given this evidence, what is the best decision for this specific patient?"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Goal:</a:t>
            </a:r>
            <a:r>
              <a:rPr lang="en-GB" dirty="0">
                <a:ea typeface="+mn-lt"/>
                <a:cs typeface="+mn-lt"/>
              </a:rPr>
              <a:t> To promote </a:t>
            </a:r>
            <a:r>
              <a:rPr lang="en-GB" b="1" dirty="0">
                <a:ea typeface="+mn-lt"/>
                <a:cs typeface="+mn-lt"/>
              </a:rPr>
              <a:t>Evidence-Based Practice (EBP)</a:t>
            </a:r>
            <a:r>
              <a:rPr lang="en-GB" dirty="0">
                <a:ea typeface="+mn-lt"/>
                <a:cs typeface="+mn-lt"/>
              </a:rPr>
              <a:t> by quantifying diagnosis, prognosis, and treatment effects.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51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B8C5E-16E7-3226-DC43-EDAEB50A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Measures of Disease Occurrence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9DDB7-4C84-5010-1574-19F7C5B1D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/>
                <a:cs typeface="Arial"/>
              </a:rPr>
              <a:t>1. Prevalence</a:t>
            </a:r>
            <a:endParaRPr lang="en-GB" sz="1800"/>
          </a:p>
          <a:p>
            <a:pPr lvl="2"/>
            <a:r>
              <a:rPr lang="en-GB" b="1" dirty="0">
                <a:latin typeface="Arial"/>
                <a:cs typeface="Arial"/>
              </a:rPr>
              <a:t>Definition:</a:t>
            </a:r>
            <a:r>
              <a:rPr lang="en-GB" dirty="0">
                <a:latin typeface="Arial"/>
                <a:cs typeface="Arial"/>
              </a:rPr>
              <a:t> The proportion of a population with a disease at a specific point in time.</a:t>
            </a:r>
            <a:endParaRPr lang="en-GB"/>
          </a:p>
          <a:p>
            <a:pPr lvl="2"/>
            <a:r>
              <a:rPr lang="en-GB" b="1" dirty="0">
                <a:latin typeface="Arial"/>
                <a:cs typeface="Arial"/>
              </a:rPr>
              <a:t>Use:</a:t>
            </a:r>
            <a:r>
              <a:rPr lang="en-GB" dirty="0">
                <a:latin typeface="Arial"/>
                <a:cs typeface="Arial"/>
              </a:rPr>
              <a:t> Planning resources and services.</a:t>
            </a:r>
            <a:endParaRPr lang="en-GB"/>
          </a:p>
          <a:p>
            <a:pPr lvl="1"/>
            <a:r>
              <a:rPr lang="en-GB" sz="1800" b="1" dirty="0">
                <a:latin typeface="Arial"/>
                <a:cs typeface="Arial"/>
              </a:rPr>
              <a:t>2. Incidence</a:t>
            </a:r>
            <a:endParaRPr lang="en-GB" sz="1800"/>
          </a:p>
          <a:p>
            <a:pPr lvl="2"/>
            <a:r>
              <a:rPr lang="en-GB" b="1" dirty="0">
                <a:latin typeface="Arial"/>
                <a:cs typeface="Arial"/>
              </a:rPr>
              <a:t>Cumulative Incidence (Risk):</a:t>
            </a:r>
            <a:r>
              <a:rPr lang="en-GB" dirty="0">
                <a:latin typeface="Arial"/>
                <a:cs typeface="Arial"/>
              </a:rPr>
              <a:t> The probability of developing a new disease over a specific time period.</a:t>
            </a:r>
            <a:endParaRPr lang="en-GB"/>
          </a:p>
          <a:p>
            <a:pPr lvl="2"/>
            <a:r>
              <a:rPr lang="en-GB" b="1" dirty="0">
                <a:latin typeface="Arial"/>
                <a:cs typeface="Arial"/>
              </a:rPr>
              <a:t>Incidence Rate (Rate):</a:t>
            </a:r>
            <a:r>
              <a:rPr lang="en-GB" dirty="0">
                <a:latin typeface="Arial"/>
                <a:cs typeface="Arial"/>
              </a:rPr>
              <a:t> The speed at which new cases occur (cases per person-time).</a:t>
            </a:r>
            <a:endParaRPr lang="en-GB"/>
          </a:p>
          <a:p>
            <a:pPr lvl="2"/>
            <a:r>
              <a:rPr lang="en-GB" b="1" dirty="0">
                <a:latin typeface="Arial"/>
                <a:cs typeface="Arial"/>
              </a:rPr>
              <a:t>Use:</a:t>
            </a:r>
            <a:r>
              <a:rPr lang="en-GB" dirty="0">
                <a:latin typeface="Arial"/>
                <a:cs typeface="Arial"/>
              </a:rPr>
              <a:t> Understanding disease </a:t>
            </a:r>
            <a:r>
              <a:rPr lang="en-GB" err="1">
                <a:latin typeface="Arial"/>
                <a:cs typeface="Arial"/>
              </a:rPr>
              <a:t>etiology</a:t>
            </a:r>
            <a:r>
              <a:rPr lang="en-GB" dirty="0">
                <a:latin typeface="Arial"/>
                <a:cs typeface="Arial"/>
              </a:rPr>
              <a:t> and risk factors.</a:t>
            </a:r>
            <a:endParaRPr lang="en-GB"/>
          </a:p>
          <a:p>
            <a:r>
              <a:rPr lang="en-GB" sz="1800" b="1" dirty="0">
                <a:latin typeface="Arial"/>
                <a:cs typeface="Arial"/>
              </a:rPr>
              <a:t>Key Relationship:</a:t>
            </a:r>
            <a:r>
              <a:rPr lang="en-GB" sz="1800" dirty="0">
                <a:latin typeface="Arial"/>
                <a:cs typeface="Arial"/>
              </a:rPr>
              <a:t> Prevalence ≈ Incidence Rate × Duration of Disease</a:t>
            </a: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79892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6C41-511E-4322-60E8-D82F8540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200" dirty="0"/>
              <a:t>The Hierarchy of Evidence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F6DA2-03F6-A67B-6631-4B93396B3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Visual Representation:</a:t>
            </a:r>
            <a:r>
              <a:rPr lang="en-GB" dirty="0">
                <a:ea typeface="+mn-lt"/>
                <a:cs typeface="+mn-lt"/>
              </a:rPr>
              <a:t> The pyramid structure guiding clinical decisions.</a:t>
            </a:r>
            <a:endParaRPr lang="en-GB"/>
          </a:p>
          <a:p>
            <a:pPr lvl="1"/>
            <a:r>
              <a:rPr lang="en-GB" b="1" dirty="0">
                <a:ea typeface="+mn-lt"/>
                <a:cs typeface="+mn-lt"/>
              </a:rPr>
              <a:t>Systematic Reviews &amp; Meta-Analyses (Highest)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Randomized Controlled Trials (RCTs)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Cohort Studies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Case-Control Studies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Cross-Sectional Studies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Case Series/Case Reports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Editorials/Expert Opinion (Lowest)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747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968F-20B6-F54C-64B5-AE14AF64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0" dirty="0">
                <a:ea typeface="+mj-lt"/>
                <a:cs typeface="+mj-lt"/>
              </a:rPr>
              <a:t>Experimental Design: Randomized Controlled Trials (RCTs)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55746-F777-4C36-7E49-223050FC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GB" b="1" dirty="0">
                <a:ea typeface="+mn-lt"/>
                <a:cs typeface="+mn-lt"/>
              </a:rPr>
              <a:t>Principle:</a:t>
            </a:r>
            <a:r>
              <a:rPr lang="en-GB" dirty="0">
                <a:ea typeface="+mn-lt"/>
                <a:cs typeface="+mn-lt"/>
              </a:rPr>
              <a:t> Participants are randomly assigned to an intervention group (e.g., new drug) or a control group (e.g., placebo or standard care).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Advantages: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Minimizes confounding</a:t>
            </a:r>
            <a:r>
              <a:rPr lang="en-GB" dirty="0">
                <a:ea typeface="+mn-lt"/>
                <a:cs typeface="+mn-lt"/>
              </a:rPr>
              <a:t> and is the most reliable method for establishing causality and treatment efficacy.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Key Concept: Blinding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Single-Blind:</a:t>
            </a:r>
            <a:r>
              <a:rPr lang="en-GB" dirty="0">
                <a:ea typeface="+mn-lt"/>
                <a:cs typeface="+mn-lt"/>
              </a:rPr>
              <a:t> Participants don't know their group.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Double-Blind:</a:t>
            </a:r>
            <a:r>
              <a:rPr lang="en-GB" dirty="0">
                <a:ea typeface="+mn-lt"/>
                <a:cs typeface="+mn-lt"/>
              </a:rPr>
              <a:t> Neither participants nor assessors know the group assignments. (Minimizes bias).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993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58BD-9271-B6AA-068E-2084790E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GB" sz="2400" dirty="0"/>
              <a:t>Conclusion</a:t>
            </a:r>
            <a:endParaRPr lang="en-GB" sz="24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9113-C566-0A6D-28DE-615F8054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Clinical epidemiology provides the essential tools to move from intuition to </a:t>
            </a:r>
            <a:r>
              <a:rPr lang="en-GB" b="1">
                <a:ea typeface="+mn-lt"/>
                <a:cs typeface="+mn-lt"/>
              </a:rPr>
              <a:t>evidence-based clinical practice.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Understanding study designs, measures of association, and sources of error is crucial for </a:t>
            </a:r>
            <a:r>
              <a:rPr lang="en-GB" b="1">
                <a:ea typeface="+mn-lt"/>
                <a:cs typeface="+mn-lt"/>
              </a:rPr>
              <a:t>critically appraising medical literature.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The goal is to provide the </a:t>
            </a:r>
            <a:r>
              <a:rPr lang="en-GB" b="1">
                <a:ea typeface="+mn-lt"/>
                <a:cs typeface="+mn-lt"/>
              </a:rPr>
              <a:t>best possible care</a:t>
            </a:r>
            <a:r>
              <a:rPr lang="en-GB">
                <a:ea typeface="+mn-lt"/>
                <a:cs typeface="+mn-lt"/>
              </a:rPr>
              <a:t> for the patient by integrating individual clinical expertise with the best available external clinical evidence.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659784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AccentBoxVTI</vt:lpstr>
      <vt:lpstr>Clinical Epidemiology: Bridging Evidence and Practice</vt:lpstr>
      <vt:lpstr>What is Clinical Epidemiology?</vt:lpstr>
      <vt:lpstr>Measures of Disease Occurrence</vt:lpstr>
      <vt:lpstr>The Hierarchy of Evidence</vt:lpstr>
      <vt:lpstr>Experimental Design: Randomized Controlled Trials (RCTs)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</cp:revision>
  <dcterms:created xsi:type="dcterms:W3CDTF">2025-12-14T01:26:43Z</dcterms:created>
  <dcterms:modified xsi:type="dcterms:W3CDTF">2025-12-14T01:38:10Z</dcterms:modified>
</cp:coreProperties>
</file>