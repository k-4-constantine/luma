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B7673-783D-BBC7-1BD6-C0C6B105B299}" v="52" dt="2025-12-14T01:52:58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Blinding and Bias in Clinical Trials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lphaUcPeriod"/>
            </a:pPr>
            <a:r>
              <a:rPr lang="en-GB" dirty="0" err="1"/>
              <a:t>Intellgentius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5DAE-BADC-2D82-D626-3BBC6362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1" dirty="0">
                <a:latin typeface="Calibri"/>
                <a:ea typeface="Calibri"/>
                <a:cs typeface="Calibri"/>
              </a:rPr>
              <a:t>What is Bias in Research?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868C8-55A4-9974-02D2-EC458771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Definition:</a:t>
            </a:r>
            <a:r>
              <a:rPr lang="en-GB" dirty="0">
                <a:ea typeface="+mn-lt"/>
                <a:cs typeface="+mn-lt"/>
              </a:rPr>
              <a:t> A systematic error in the design, conduct, or analysis of a study that results in a mistaken estimate of the exposure-outcome relationship.</a:t>
            </a:r>
            <a:endParaRPr lang="en-GB"/>
          </a:p>
          <a:p>
            <a:r>
              <a:rPr lang="en-GB" b="1" dirty="0">
                <a:ea typeface="+mn-lt"/>
                <a:cs typeface="+mn-lt"/>
              </a:rPr>
              <a:t>Result:</a:t>
            </a:r>
            <a:r>
              <a:rPr lang="en-GB" dirty="0">
                <a:ea typeface="+mn-lt"/>
                <a:cs typeface="+mn-lt"/>
              </a:rPr>
              <a:t> Bias can either falsely exaggerate an effect (making a drug look better than it is) or falsely diminish an effect (making a drug look worse).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Key Point:</a:t>
            </a:r>
            <a:r>
              <a:rPr lang="en-GB" dirty="0">
                <a:ea typeface="+mn-lt"/>
                <a:cs typeface="+mn-lt"/>
              </a:rPr>
              <a:t> Unlike random error, which can be reduced by increasing sample size, </a:t>
            </a:r>
            <a:r>
              <a:rPr lang="en-GB" b="1" dirty="0">
                <a:ea typeface="+mn-lt"/>
                <a:cs typeface="+mn-lt"/>
              </a:rPr>
              <a:t>bias cannot be fixed</a:t>
            </a:r>
            <a:r>
              <a:rPr lang="en-GB" dirty="0">
                <a:ea typeface="+mn-lt"/>
                <a:cs typeface="+mn-lt"/>
              </a:rPr>
              <a:t> after the study is complete. It must be prevented in the design phase.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342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0F04-EB73-FBE0-5843-6DE4F79F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1" dirty="0">
                <a:latin typeface="Calibri"/>
                <a:ea typeface="Calibri"/>
                <a:cs typeface="Calibri"/>
              </a:rPr>
              <a:t>The Primary Source of Bias in Trials: Expectations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FCB76-2114-9B7E-BCE2-7347CBC9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GB" b="1" dirty="0">
                <a:ea typeface="+mn-lt"/>
                <a:cs typeface="+mn-lt"/>
              </a:rPr>
              <a:t>Human Nature:</a:t>
            </a:r>
            <a:r>
              <a:rPr lang="en-GB" dirty="0">
                <a:ea typeface="+mn-lt"/>
                <a:cs typeface="+mn-lt"/>
              </a:rPr>
              <a:t> Everyone involved in a trial—patients, doctors, nurses, and data analysts—carries expectations about which treatment will be more effective.</a:t>
            </a:r>
            <a:endParaRPr lang="en-GB"/>
          </a:p>
          <a:p>
            <a:pPr>
              <a:buFont typeface="Calibri" panose="020B0604020202020204" pitchFamily="34" charset="0"/>
              <a:buChar char="-"/>
            </a:pPr>
            <a:r>
              <a:rPr lang="en-GB" b="1">
                <a:ea typeface="+mn-lt"/>
                <a:cs typeface="+mn-lt"/>
              </a:rPr>
              <a:t>The Problem of Expectations:</a:t>
            </a:r>
            <a:endParaRPr lang="en-GB"/>
          </a:p>
          <a:p>
            <a:pPr lvl="1"/>
            <a:r>
              <a:rPr lang="en-GB" b="1">
                <a:ea typeface="+mn-lt"/>
                <a:cs typeface="+mn-lt"/>
              </a:rPr>
              <a:t>Patient Expectation:</a:t>
            </a:r>
            <a:r>
              <a:rPr lang="en-GB">
                <a:ea typeface="+mn-lt"/>
                <a:cs typeface="+mn-lt"/>
              </a:rPr>
              <a:t> Can lead to the </a:t>
            </a:r>
            <a:r>
              <a:rPr lang="en-GB" b="1">
                <a:ea typeface="+mn-lt"/>
                <a:cs typeface="+mn-lt"/>
              </a:rPr>
              <a:t>Placebo Effect</a:t>
            </a:r>
            <a:r>
              <a:rPr lang="en-GB">
                <a:ea typeface="+mn-lt"/>
                <a:cs typeface="+mn-lt"/>
              </a:rPr>
              <a:t> (the patient feels better simply because they </a:t>
            </a:r>
            <a:r>
              <a:rPr lang="en-GB" i="1" err="1">
                <a:ea typeface="+mn-lt"/>
                <a:cs typeface="+mn-lt"/>
              </a:rPr>
              <a:t>believe</a:t>
            </a:r>
            <a:r>
              <a:rPr lang="en-GB" err="1">
                <a:ea typeface="+mn-lt"/>
                <a:cs typeface="+mn-lt"/>
              </a:rPr>
              <a:t>they</a:t>
            </a:r>
            <a:r>
              <a:rPr lang="en-GB">
                <a:ea typeface="+mn-lt"/>
                <a:cs typeface="+mn-lt"/>
              </a:rPr>
              <a:t> are receiving the treatment).</a:t>
            </a:r>
            <a:endParaRPr lang="en-GB"/>
          </a:p>
          <a:p>
            <a:pPr lvl="1"/>
            <a:r>
              <a:rPr lang="en-GB" b="1">
                <a:ea typeface="+mn-lt"/>
                <a:cs typeface="+mn-lt"/>
              </a:rPr>
              <a:t>Clinician Expectation:</a:t>
            </a:r>
            <a:r>
              <a:rPr lang="en-GB">
                <a:ea typeface="+mn-lt"/>
                <a:cs typeface="+mn-lt"/>
              </a:rPr>
              <a:t> Can lead to different treatment of groups (e.g., more attention/support for the "active" group) or differential reporting of side effects.</a:t>
            </a:r>
            <a:endParaRPr lang="en-GB"/>
          </a:p>
          <a:p>
            <a:pPr lvl="1"/>
            <a:r>
              <a:rPr lang="en-GB" b="1" dirty="0">
                <a:ea typeface="+mn-lt"/>
                <a:cs typeface="+mn-lt"/>
              </a:rPr>
              <a:t>Assessor/Analyst Expectation:</a:t>
            </a:r>
            <a:r>
              <a:rPr lang="en-GB" dirty="0">
                <a:ea typeface="+mn-lt"/>
                <a:cs typeface="+mn-lt"/>
              </a:rPr>
              <a:t> Can lead to subjective interpretation of ambiguous outcomes (e.g., classifying a borderline symptom as an "improvement" in the intervention group).</a:t>
            </a:r>
            <a:endParaRPr lang="en-GB" dirty="0"/>
          </a:p>
          <a:p>
            <a:pPr>
              <a:buFont typeface="Calibri" panose="020B0604020202020204" pitchFamily="34" charset="0"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3469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B27D-7AC7-A821-A95A-BEAECCB6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GB" sz="2600" b="1">
                <a:latin typeface="Aptos"/>
              </a:rPr>
              <a:t>Other Critical Types of Bias</a:t>
            </a:r>
            <a:endParaRPr lang="en-GB" sz="2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799C5-7739-32D4-7266-427FA82CA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>
                <a:ea typeface="+mn-lt"/>
                <a:cs typeface="+mn-lt"/>
              </a:rPr>
              <a:t>While blinding addresses information bias, other forms of systematic error must be considered: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1. Selection Bias (Problem with Randomization):</a:t>
            </a:r>
            <a:endParaRPr lang="en-GB"/>
          </a:p>
          <a:p>
            <a:pPr lvl="1"/>
            <a:r>
              <a:rPr lang="en-GB">
                <a:ea typeface="+mn-lt"/>
                <a:cs typeface="+mn-lt"/>
              </a:rPr>
              <a:t>Occurs if the randomization sequence is broken or not properly concealed, allowing investigators to influence which group a patient enters.</a:t>
            </a:r>
            <a:endParaRPr lang="en-GB"/>
          </a:p>
          <a:p>
            <a:pPr lvl="1"/>
            <a:r>
              <a:rPr lang="en-GB" b="1">
                <a:ea typeface="+mn-lt"/>
                <a:cs typeface="+mn-lt"/>
              </a:rPr>
              <a:t>Prevention:</a:t>
            </a:r>
            <a:r>
              <a:rPr lang="en-GB">
                <a:ea typeface="+mn-lt"/>
                <a:cs typeface="+mn-lt"/>
              </a:rPr>
              <a:t> Use central randomization systems and concealed allocation (e.g., secure, sequentially numbered containers).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2. Attrition/Loss to Follow-up Bias:</a:t>
            </a:r>
            <a:endParaRPr lang="en-GB"/>
          </a:p>
          <a:p>
            <a:pPr lvl="1"/>
            <a:r>
              <a:rPr lang="en-GB">
                <a:ea typeface="+mn-lt"/>
                <a:cs typeface="+mn-lt"/>
              </a:rPr>
              <a:t>Occurs if a disproportionate number of participants drop out of one study group, often due to drug side effects or feeling worse.</a:t>
            </a:r>
            <a:endParaRPr lang="en-GB"/>
          </a:p>
          <a:p>
            <a:pPr lvl="1"/>
            <a:r>
              <a:rPr lang="en-GB" b="1">
                <a:ea typeface="+mn-lt"/>
                <a:cs typeface="+mn-lt"/>
              </a:rPr>
              <a:t>Prevention:</a:t>
            </a:r>
            <a:r>
              <a:rPr lang="en-GB">
                <a:ea typeface="+mn-lt"/>
                <a:cs typeface="+mn-lt"/>
              </a:rPr>
              <a:t> The use of </a:t>
            </a:r>
            <a:r>
              <a:rPr lang="en-GB" b="1">
                <a:ea typeface="+mn-lt"/>
                <a:cs typeface="+mn-lt"/>
              </a:rPr>
              <a:t>Intention-to-Treat (ITT) Analysis</a:t>
            </a:r>
            <a:r>
              <a:rPr lang="en-GB">
                <a:ea typeface="+mn-lt"/>
                <a:cs typeface="+mn-lt"/>
              </a:rPr>
              <a:t> (</a:t>
            </a:r>
            <a:r>
              <a:rPr lang="en-GB" err="1">
                <a:ea typeface="+mn-lt"/>
                <a:cs typeface="+mn-lt"/>
              </a:rPr>
              <a:t>analyzing</a:t>
            </a:r>
            <a:r>
              <a:rPr lang="en-GB">
                <a:ea typeface="+mn-lt"/>
                <a:cs typeface="+mn-lt"/>
              </a:rPr>
              <a:t> patients in the group they were originally randomized to, regardless of dropout) helps mitigate this threat.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265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8B6F-5B71-3AED-5F0D-8E728CDB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>
                <a:latin typeface="Aptos"/>
              </a:rPr>
              <a:t>The Blinding Checklist for Critical Appraisal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CCDF-C2B3-8EC8-060D-40FAE5D0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b="1" dirty="0"/>
          </a:p>
          <a:p>
            <a:r>
              <a:rPr lang="en-GB">
                <a:ea typeface="+mn-lt"/>
                <a:cs typeface="+mn-lt"/>
              </a:rPr>
              <a:t>When reading a study, ask these questions to assess its integrity: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Was the study blinded?</a:t>
            </a:r>
            <a:r>
              <a:rPr lang="en-GB">
                <a:ea typeface="+mn-lt"/>
                <a:cs typeface="+mn-lt"/>
              </a:rPr>
              <a:t> (Single, Double, or Triple?)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Who was blinded?</a:t>
            </a:r>
            <a:r>
              <a:rPr lang="en-GB">
                <a:ea typeface="+mn-lt"/>
                <a:cs typeface="+mn-lt"/>
              </a:rPr>
              <a:t> (Participant, Clinician, Assessor?)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Was a credible placebo used?</a:t>
            </a:r>
            <a:r>
              <a:rPr lang="en-GB">
                <a:ea typeface="+mn-lt"/>
                <a:cs typeface="+mn-lt"/>
              </a:rPr>
              <a:t> (Did it look, taste, and feel identical to the active treatment?)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Was the allocation concealed?</a:t>
            </a:r>
            <a:r>
              <a:rPr lang="en-GB">
                <a:ea typeface="+mn-lt"/>
                <a:cs typeface="+mn-lt"/>
              </a:rPr>
              <a:t> (Did the researchers know the next assignment </a:t>
            </a:r>
            <a:r>
              <a:rPr lang="en-GB" i="1">
                <a:ea typeface="+mn-lt"/>
                <a:cs typeface="+mn-lt"/>
              </a:rPr>
              <a:t>before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err="1">
                <a:ea typeface="+mn-lt"/>
                <a:cs typeface="+mn-lt"/>
              </a:rPr>
              <a:t>enrollment</a:t>
            </a:r>
            <a:r>
              <a:rPr lang="en-GB">
                <a:ea typeface="+mn-lt"/>
                <a:cs typeface="+mn-lt"/>
              </a:rPr>
              <a:t>?)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Did side effects potentially unblind the study?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290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Blinding and Bias in Clinical Trials</vt:lpstr>
      <vt:lpstr>What is Bias in Research?</vt:lpstr>
      <vt:lpstr>The Primary Source of Bias in Trials: Expectations</vt:lpstr>
      <vt:lpstr>Other Critical Types of Bias</vt:lpstr>
      <vt:lpstr>The Blinding Checklist for Critical Appraisal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17</cp:revision>
  <dcterms:created xsi:type="dcterms:W3CDTF">2013-07-15T20:26:40Z</dcterms:created>
  <dcterms:modified xsi:type="dcterms:W3CDTF">2025-12-14T01:53:13Z</dcterms:modified>
</cp:coreProperties>
</file>