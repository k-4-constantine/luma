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2BA05B-D9AD-4742-A4E2-C3B0AE8FE3E5}" v="68" dt="2025-12-14T01:49:00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ea typeface="+mj-lt"/>
                <a:cs typeface="+mj-lt"/>
              </a:rPr>
              <a:t>The Gold Standard - Randomized Controlled Trials (RCTs)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C. </a:t>
            </a:r>
            <a:r>
              <a:rPr lang="en-GB" dirty="0" err="1"/>
              <a:t>Epidemiologus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185C-71AA-D41B-320E-E41CC99F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GB" sz="2600" b="1" dirty="0">
                <a:latin typeface="Aptos"/>
              </a:rPr>
              <a:t>Introduction: The Clinical Question</a:t>
            </a:r>
            <a:endParaRPr lang="en-GB" sz="2600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950F4-AA31-80A0-ABD9-E74DBF17B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>
                <a:ea typeface="+mn-lt"/>
                <a:cs typeface="+mn-lt"/>
              </a:rPr>
              <a:t>Purpose of RCTs:</a:t>
            </a:r>
            <a:r>
              <a:rPr lang="en-GB">
                <a:ea typeface="+mn-lt"/>
                <a:cs typeface="+mn-lt"/>
              </a:rPr>
              <a:t> To evaluate the </a:t>
            </a:r>
            <a:r>
              <a:rPr lang="en-GB" b="1">
                <a:ea typeface="+mn-lt"/>
                <a:cs typeface="+mn-lt"/>
              </a:rPr>
              <a:t>efficacy</a:t>
            </a:r>
            <a:r>
              <a:rPr lang="en-GB">
                <a:ea typeface="+mn-lt"/>
                <a:cs typeface="+mn-lt"/>
              </a:rPr>
              <a:t> and </a:t>
            </a:r>
            <a:r>
              <a:rPr lang="en-GB" b="1">
                <a:ea typeface="+mn-lt"/>
                <a:cs typeface="+mn-lt"/>
              </a:rPr>
              <a:t>safety</a:t>
            </a:r>
            <a:r>
              <a:rPr lang="en-GB">
                <a:ea typeface="+mn-lt"/>
                <a:cs typeface="+mn-lt"/>
              </a:rPr>
              <a:t> of a new intervention (drug, procedure, screening program) versus a control.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Goal:</a:t>
            </a:r>
            <a:r>
              <a:rPr lang="en-GB">
                <a:ea typeface="+mn-lt"/>
                <a:cs typeface="+mn-lt"/>
              </a:rPr>
              <a:t> To establish a clear, causal link between the intervention and the outcome.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The Problem:</a:t>
            </a:r>
            <a:r>
              <a:rPr lang="en-GB">
                <a:ea typeface="+mn-lt"/>
                <a:cs typeface="+mn-lt"/>
              </a:rPr>
              <a:t> In observational studies, differences in outcomes might be due to patient characteristics (</a:t>
            </a:r>
            <a:r>
              <a:rPr lang="en-GB" b="1">
                <a:ea typeface="+mn-lt"/>
                <a:cs typeface="+mn-lt"/>
              </a:rPr>
              <a:t>confounding</a:t>
            </a:r>
            <a:r>
              <a:rPr lang="en-GB">
                <a:ea typeface="+mn-lt"/>
                <a:cs typeface="+mn-lt"/>
              </a:rPr>
              <a:t>) rather than the intervention itself.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The Solution:</a:t>
            </a:r>
            <a:r>
              <a:rPr lang="en-GB">
                <a:ea typeface="+mn-lt"/>
                <a:cs typeface="+mn-lt"/>
              </a:rPr>
              <a:t> The RCT design is engineered to eliminate or minimize these alternative explanations.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5922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48F6-2F7B-B5E3-1D02-89CD80DAA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b="1" dirty="0">
                <a:latin typeface="Aptos"/>
              </a:rPr>
              <a:t>Phase 1: Study Population and Eligibility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C06EE-8A1F-F8F1-DE7C-FC351799E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endParaRPr lang="en-GB" b="1" dirty="0"/>
          </a:p>
          <a:p>
            <a:r>
              <a:rPr lang="en-GB" b="1" dirty="0">
                <a:ea typeface="+mn-lt"/>
                <a:cs typeface="+mn-lt"/>
              </a:rPr>
              <a:t>Reference Population:</a:t>
            </a:r>
            <a:r>
              <a:rPr lang="en-GB" dirty="0">
                <a:ea typeface="+mn-lt"/>
                <a:cs typeface="+mn-lt"/>
              </a:rPr>
              <a:t> The broad group to which the results should apply.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Study Population:</a:t>
            </a:r>
            <a:r>
              <a:rPr lang="en-GB" dirty="0">
                <a:ea typeface="+mn-lt"/>
                <a:cs typeface="+mn-lt"/>
              </a:rPr>
              <a:t> The specific group from which participants are recruited.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Inclusion/Exclusion Criteria:</a:t>
            </a:r>
            <a:r>
              <a:rPr lang="en-GB" dirty="0">
                <a:ea typeface="+mn-lt"/>
                <a:cs typeface="+mn-lt"/>
              </a:rPr>
              <a:t> Strict guidelines used to define the eligible sample.</a:t>
            </a:r>
            <a:endParaRPr lang="en-GB" dirty="0"/>
          </a:p>
          <a:p>
            <a:pPr lvl="1"/>
            <a:r>
              <a:rPr lang="en-GB" i="1" dirty="0">
                <a:ea typeface="+mn-lt"/>
                <a:cs typeface="+mn-lt"/>
              </a:rPr>
              <a:t>Inclusion:</a:t>
            </a:r>
            <a:r>
              <a:rPr lang="en-GB" dirty="0">
                <a:ea typeface="+mn-lt"/>
                <a:cs typeface="+mn-lt"/>
              </a:rPr>
              <a:t> Characteristics needed to participate (e.g., age range, diagnosis).</a:t>
            </a:r>
            <a:endParaRPr lang="en-GB" dirty="0"/>
          </a:p>
          <a:p>
            <a:pPr lvl="1"/>
            <a:r>
              <a:rPr lang="en-GB" i="1" dirty="0">
                <a:ea typeface="+mn-lt"/>
                <a:cs typeface="+mn-lt"/>
              </a:rPr>
              <a:t>Exclusion:</a:t>
            </a:r>
            <a:r>
              <a:rPr lang="en-GB" dirty="0">
                <a:ea typeface="+mn-lt"/>
                <a:cs typeface="+mn-lt"/>
              </a:rPr>
              <a:t> Characteristics that prevent participation (e.g., co-morbidities, pregnancy).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Importance:</a:t>
            </a:r>
            <a:r>
              <a:rPr lang="en-GB" dirty="0">
                <a:ea typeface="+mn-lt"/>
                <a:cs typeface="+mn-lt"/>
              </a:rPr>
              <a:t> Carefully defined criteria ensure the study is focused and minimizes heterogeneity (differences) that could cloud the results.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34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5D488-2F5F-2AD3-D321-FA44A2D74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 b="1" dirty="0">
                <a:latin typeface="Calibri"/>
                <a:ea typeface="Calibri"/>
                <a:cs typeface="Calibri"/>
              </a:rPr>
              <a:t>Phase 2: The Power of Randomization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4DBB8-86E4-7FBA-4EEC-3700D66CF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endParaRPr lang="en-US" b="1" dirty="0"/>
          </a:p>
          <a:p>
            <a:r>
              <a:rPr lang="en-GB" b="1">
                <a:ea typeface="+mn-lt"/>
                <a:cs typeface="+mn-lt"/>
              </a:rPr>
              <a:t>Definition:</a:t>
            </a:r>
            <a:r>
              <a:rPr lang="en-GB">
                <a:ea typeface="+mn-lt"/>
                <a:cs typeface="+mn-lt"/>
              </a:rPr>
              <a:t> The process of assigning participants to an intervention group or a control group by chance.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Mechanism:</a:t>
            </a:r>
            <a:r>
              <a:rPr lang="en-GB">
                <a:ea typeface="+mn-lt"/>
                <a:cs typeface="+mn-lt"/>
              </a:rPr>
              <a:t> Uses random number generators or sealed envelopes.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Purpose:</a:t>
            </a:r>
            <a:r>
              <a:rPr lang="en-GB">
                <a:ea typeface="+mn-lt"/>
                <a:cs typeface="+mn-lt"/>
              </a:rPr>
              <a:t> To create study groups that are, on average, identical in all respects </a:t>
            </a:r>
            <a:r>
              <a:rPr lang="en-GB" b="1">
                <a:ea typeface="+mn-lt"/>
                <a:cs typeface="+mn-lt"/>
              </a:rPr>
              <a:t>except</a:t>
            </a:r>
            <a:r>
              <a:rPr lang="en-GB">
                <a:ea typeface="+mn-lt"/>
                <a:cs typeface="+mn-lt"/>
              </a:rPr>
              <a:t> for the intervention they receive.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Key Benefit:</a:t>
            </a:r>
            <a:r>
              <a:rPr lang="en-GB">
                <a:ea typeface="+mn-lt"/>
                <a:cs typeface="+mn-lt"/>
              </a:rPr>
              <a:t> It equally distributes </a:t>
            </a:r>
            <a:r>
              <a:rPr lang="en-GB" b="1">
                <a:ea typeface="+mn-lt"/>
                <a:cs typeface="+mn-lt"/>
              </a:rPr>
              <a:t>known and unknown confounders</a:t>
            </a:r>
            <a:r>
              <a:rPr lang="en-GB">
                <a:ea typeface="+mn-lt"/>
                <a:cs typeface="+mn-lt"/>
              </a:rPr>
              <a:t> (e.g., genetic predisposition, lifestyle factors) between the groups, thus neutralizing their impact on the outcome.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227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A568-C911-93D8-2014-9DC8F4917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b="1" dirty="0">
                <a:latin typeface="Aptos"/>
              </a:rPr>
              <a:t>Phase 3: Control Group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5E987-0BCE-5C44-13F8-218CA3921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endParaRPr lang="en-GB" b="1" dirty="0"/>
          </a:p>
          <a:p>
            <a:r>
              <a:rPr lang="en-GB" b="1" dirty="0">
                <a:ea typeface="+mn-lt"/>
                <a:cs typeface="+mn-lt"/>
              </a:rPr>
              <a:t>The Comparator:</a:t>
            </a:r>
            <a:r>
              <a:rPr lang="en-GB" dirty="0">
                <a:ea typeface="+mn-lt"/>
                <a:cs typeface="+mn-lt"/>
              </a:rPr>
              <a:t> The intervention group must be compared to a meaningful standard.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Types of Control:</a:t>
            </a:r>
            <a:endParaRPr lang="en-GB" dirty="0"/>
          </a:p>
          <a:p>
            <a:pPr lvl="1"/>
            <a:r>
              <a:rPr lang="en-GB" b="1" dirty="0">
                <a:ea typeface="+mn-lt"/>
                <a:cs typeface="+mn-lt"/>
              </a:rPr>
              <a:t>Placebo Control:</a:t>
            </a:r>
            <a:r>
              <a:rPr lang="en-GB" dirty="0">
                <a:ea typeface="+mn-lt"/>
                <a:cs typeface="+mn-lt"/>
              </a:rPr>
              <a:t> An inert (inactive) substance identical in appearance to the active treatment. Used when there is no established standard treatment.</a:t>
            </a:r>
            <a:endParaRPr lang="en-GB" dirty="0"/>
          </a:p>
          <a:p>
            <a:pPr lvl="1"/>
            <a:r>
              <a:rPr lang="en-GB" b="1" dirty="0">
                <a:ea typeface="+mn-lt"/>
                <a:cs typeface="+mn-lt"/>
              </a:rPr>
              <a:t>Active Control:</a:t>
            </a:r>
            <a:r>
              <a:rPr lang="en-GB" dirty="0">
                <a:ea typeface="+mn-lt"/>
                <a:cs typeface="+mn-lt"/>
              </a:rPr>
              <a:t> The current standard of care treatment. Used when withholding effective treatment would be unethical.</a:t>
            </a:r>
            <a:endParaRPr lang="en-GB" dirty="0"/>
          </a:p>
          <a:p>
            <a:pPr lvl="1"/>
            <a:r>
              <a:rPr lang="en-GB" b="1" dirty="0">
                <a:ea typeface="+mn-lt"/>
                <a:cs typeface="+mn-lt"/>
              </a:rPr>
              <a:t>Dose Comparison:</a:t>
            </a:r>
            <a:r>
              <a:rPr lang="en-GB" dirty="0">
                <a:ea typeface="+mn-lt"/>
                <a:cs typeface="+mn-lt"/>
              </a:rPr>
              <a:t> Comparing different doses or regimens of the same drug.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Ethical Consideration:</a:t>
            </a:r>
            <a:r>
              <a:rPr lang="en-GB" dirty="0">
                <a:ea typeface="+mn-lt"/>
                <a:cs typeface="+mn-lt"/>
              </a:rPr>
              <a:t> The use of a placebo must be ethically justified, particularly if an effective treatment already exists.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138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002B-FF2D-5A0B-A239-58D28DBE5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b="1" dirty="0">
                <a:latin typeface="Aptos"/>
              </a:rPr>
              <a:t>Phase 4: Blinding (Masking) to Prevent Bias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E50E5-42AE-DF72-9321-40FDCCE7C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endParaRPr lang="en-GB" b="1" dirty="0"/>
          </a:p>
          <a:p>
            <a:r>
              <a:rPr lang="en-GB" b="1" dirty="0">
                <a:ea typeface="+mn-lt"/>
                <a:cs typeface="+mn-lt"/>
              </a:rPr>
              <a:t>Definition:</a:t>
            </a:r>
            <a:r>
              <a:rPr lang="en-GB" dirty="0">
                <a:ea typeface="+mn-lt"/>
                <a:cs typeface="+mn-lt"/>
              </a:rPr>
              <a:t> Keeping the treatment assignment hidden from one or more parties involved in the study.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Why it's Crucial:</a:t>
            </a:r>
            <a:r>
              <a:rPr lang="en-GB" dirty="0">
                <a:ea typeface="+mn-lt"/>
                <a:cs typeface="+mn-lt"/>
              </a:rPr>
              <a:t> Prevents </a:t>
            </a:r>
            <a:r>
              <a:rPr lang="en-GB" b="1" dirty="0">
                <a:ea typeface="+mn-lt"/>
                <a:cs typeface="+mn-lt"/>
              </a:rPr>
              <a:t>Information Bias</a:t>
            </a:r>
            <a:r>
              <a:rPr lang="en-GB" dirty="0">
                <a:ea typeface="+mn-lt"/>
                <a:cs typeface="+mn-lt"/>
              </a:rPr>
              <a:t> that can arise from expectations.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Types of Blinding:</a:t>
            </a:r>
            <a:endParaRPr lang="en-GB" dirty="0"/>
          </a:p>
          <a:p>
            <a:pPr lvl="1"/>
            <a:r>
              <a:rPr lang="en-GB" b="1" dirty="0">
                <a:ea typeface="+mn-lt"/>
                <a:cs typeface="+mn-lt"/>
              </a:rPr>
              <a:t>Single-Blind:</a:t>
            </a:r>
            <a:r>
              <a:rPr lang="en-GB" dirty="0">
                <a:ea typeface="+mn-lt"/>
                <a:cs typeface="+mn-lt"/>
              </a:rPr>
              <a:t> Only the participants are unaware of their assignment.</a:t>
            </a:r>
            <a:endParaRPr lang="en-GB" dirty="0"/>
          </a:p>
          <a:p>
            <a:pPr lvl="1"/>
            <a:r>
              <a:rPr lang="en-GB" b="1" dirty="0">
                <a:ea typeface="+mn-lt"/>
                <a:cs typeface="+mn-lt"/>
              </a:rPr>
              <a:t>Double-Blind (Most Common):</a:t>
            </a:r>
            <a:r>
              <a:rPr lang="en-GB" dirty="0">
                <a:ea typeface="+mn-lt"/>
                <a:cs typeface="+mn-lt"/>
              </a:rPr>
              <a:t> Both participants and the clinicians/assessors administering treatment or collecting data are unaware.</a:t>
            </a:r>
            <a:endParaRPr lang="en-GB" dirty="0"/>
          </a:p>
          <a:p>
            <a:pPr lvl="1"/>
            <a:r>
              <a:rPr lang="en-GB" b="1" dirty="0">
                <a:ea typeface="+mn-lt"/>
                <a:cs typeface="+mn-lt"/>
              </a:rPr>
              <a:t>Triple-Blind:</a:t>
            </a:r>
            <a:r>
              <a:rPr lang="en-GB" dirty="0">
                <a:ea typeface="+mn-lt"/>
                <a:cs typeface="+mn-lt"/>
              </a:rPr>
              <a:t> Participants, clinicians, and the data analysts are all unaware (highest level of rigor).</a:t>
            </a:r>
            <a:endParaRPr lang="en-GB" dirty="0"/>
          </a:p>
          <a:p>
            <a:r>
              <a:rPr lang="en-GB" i="1" dirty="0">
                <a:ea typeface="+mn-lt"/>
                <a:cs typeface="+mn-lt"/>
              </a:rPr>
              <a:t>Example:</a:t>
            </a:r>
            <a:r>
              <a:rPr lang="en-GB" dirty="0">
                <a:ea typeface="+mn-lt"/>
                <a:cs typeface="+mn-lt"/>
              </a:rPr>
              <a:t> If a patient knows they are receiving a new treatment, they may report feeling better due to expectation (Placebo Effect).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0177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10852-A60B-6089-908E-350D33F79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>
                <a:latin typeface="Aptos"/>
              </a:rPr>
              <a:t>Ethical Requirements of an RCT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6440-41AF-22D4-A9B6-E0B04BB28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b="1" dirty="0"/>
          </a:p>
          <a:p>
            <a:r>
              <a:rPr lang="en-GB" b="1" dirty="0">
                <a:ea typeface="+mn-lt"/>
                <a:cs typeface="+mn-lt"/>
              </a:rPr>
              <a:t>Equipoise:</a:t>
            </a:r>
            <a:r>
              <a:rPr lang="en-GB" dirty="0">
                <a:ea typeface="+mn-lt"/>
                <a:cs typeface="+mn-lt"/>
              </a:rPr>
              <a:t> There must be genuine uncertainty in the medical community about whether the new intervention is better or worse than the control. If one is clearly superior, the trial must stop.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Informed Consent:</a:t>
            </a:r>
            <a:r>
              <a:rPr lang="en-GB" dirty="0">
                <a:ea typeface="+mn-lt"/>
                <a:cs typeface="+mn-lt"/>
              </a:rPr>
              <a:t> Participants must fully understand the risks, benefits, and voluntary nature of the study before agreeing to participate.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Monitoring:</a:t>
            </a:r>
            <a:r>
              <a:rPr lang="en-GB" dirty="0">
                <a:ea typeface="+mn-lt"/>
                <a:cs typeface="+mn-lt"/>
              </a:rPr>
              <a:t> Data Monitoring Committees (DMCs) continuously review the accumulating data to ensure safety and ethical conduct.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0001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The Gold Standard - Randomized Controlled Trials (RCTs)</vt:lpstr>
      <vt:lpstr>Introduction: The Clinical Question</vt:lpstr>
      <vt:lpstr>Phase 1: Study Population and Eligibility</vt:lpstr>
      <vt:lpstr>Phase 2: The Power of Randomization</vt:lpstr>
      <vt:lpstr>Phase 3: Control Group Selection</vt:lpstr>
      <vt:lpstr>Phase 4: Blinding (Masking) to Prevent Bias</vt:lpstr>
      <vt:lpstr>Ethical Requirements of an RCT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</cp:revision>
  <dcterms:created xsi:type="dcterms:W3CDTF">2025-12-14T01:26:33Z</dcterms:created>
  <dcterms:modified xsi:type="dcterms:W3CDTF">2025-12-14T01:49:10Z</dcterms:modified>
</cp:coreProperties>
</file>